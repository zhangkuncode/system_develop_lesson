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7" r:id="rId3"/>
    <p:sldId id="258" r:id="rId4"/>
    <p:sldId id="272" r:id="rId5"/>
    <p:sldId id="283" r:id="rId6"/>
    <p:sldId id="284" r:id="rId7"/>
    <p:sldId id="285" r:id="rId8"/>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CD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912" autoAdjust="0"/>
  </p:normalViewPr>
  <p:slideViewPr>
    <p:cSldViewPr snapToGrid="0">
      <p:cViewPr varScale="1">
        <p:scale>
          <a:sx n="106" d="100"/>
          <a:sy n="106" d="100"/>
        </p:scale>
        <p:origin x="370" y="56"/>
      </p:cViewPr>
      <p:guideLst>
        <p:guide orient="horz" pos="162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98D30E-4516-41A1-A37B-6C7F31E01FE0}" type="datetimeFigureOut">
              <a:rPr lang="zh-CN" altLang="en-US" smtClean="0"/>
              <a:pPr/>
              <a:t>2019/9/26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5C470-89B9-4175-A43E-68CBB16A9E73}" type="slidenum">
              <a:rPr lang="zh-CN" altLang="en-US" smtClean="0"/>
              <a:pPr/>
              <a:t>‹#›</a:t>
            </a:fld>
            <a:endParaRPr lang="zh-CN" altLang="en-US"/>
          </a:p>
        </p:txBody>
      </p:sp>
    </p:spTree>
    <p:extLst>
      <p:ext uri="{BB962C8B-B14F-4D97-AF65-F5344CB8AC3E}">
        <p14:creationId xmlns:p14="http://schemas.microsoft.com/office/powerpoint/2010/main" val="1755131607"/>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亮亮图文旗舰店</a:t>
            </a:r>
            <a:r>
              <a:rPr lang="en-US" altLang="zh-CN" dirty="0"/>
              <a:t>https://liangliangtuwen.tmall.com</a:t>
            </a:r>
            <a:endParaRPr lang="zh-CN" altLang="en-US" dirty="0"/>
          </a:p>
        </p:txBody>
      </p:sp>
      <p:sp>
        <p:nvSpPr>
          <p:cNvPr id="4" name="灯片编号占位符 3"/>
          <p:cNvSpPr>
            <a:spLocks noGrp="1"/>
          </p:cNvSpPr>
          <p:nvPr>
            <p:ph type="sldNum" sz="quarter" idx="10"/>
          </p:nvPr>
        </p:nvSpPr>
        <p:spPr/>
        <p:txBody>
          <a:bodyPr/>
          <a:lstStyle/>
          <a:p>
            <a:fld id="{1865C470-89B9-4175-A43E-68CBB16A9E73}"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909699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solidFill>
                  <a:prstClr val="black"/>
                </a:solidFill>
              </a:rPr>
              <a:pPr/>
              <a:t>5</a:t>
            </a:fld>
            <a:endParaRPr lang="zh-CN" altLang="en-US">
              <a:solidFill>
                <a:prstClr val="black"/>
              </a:solidFill>
            </a:endParaRPr>
          </a:p>
        </p:txBody>
      </p:sp>
    </p:spTree>
    <p:extLst>
      <p:ext uri="{BB962C8B-B14F-4D97-AF65-F5344CB8AC3E}">
        <p14:creationId xmlns:p14="http://schemas.microsoft.com/office/powerpoint/2010/main" val="964155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solidFill>
                  <a:prstClr val="black"/>
                </a:solidFill>
              </a:rPr>
              <a:pPr/>
              <a:t>6</a:t>
            </a:fld>
            <a:endParaRPr lang="zh-CN" altLang="en-US">
              <a:solidFill>
                <a:prstClr val="black"/>
              </a:solidFill>
            </a:endParaRPr>
          </a:p>
        </p:txBody>
      </p:sp>
    </p:spTree>
    <p:extLst>
      <p:ext uri="{BB962C8B-B14F-4D97-AF65-F5344CB8AC3E}">
        <p14:creationId xmlns:p14="http://schemas.microsoft.com/office/powerpoint/2010/main" val="578139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09E876D-A161-448D-B6CF-F08EE065FC69}" type="slidenum">
              <a:rPr lang="zh-CN" altLang="en-US" smtClean="0">
                <a:solidFill>
                  <a:prstClr val="black"/>
                </a:solidFill>
              </a:rPr>
              <a:pPr/>
              <a:t>7</a:t>
            </a:fld>
            <a:endParaRPr lang="zh-CN" altLang="en-US">
              <a:solidFill>
                <a:prstClr val="black"/>
              </a:solidFill>
            </a:endParaRPr>
          </a:p>
        </p:txBody>
      </p:sp>
    </p:spTree>
    <p:extLst>
      <p:ext uri="{BB962C8B-B14F-4D97-AF65-F5344CB8AC3E}">
        <p14:creationId xmlns:p14="http://schemas.microsoft.com/office/powerpoint/2010/main" val="24073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371533109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54" y="0"/>
            <a:ext cx="9141291" cy="5143500"/>
          </a:xfrm>
          <a:prstGeom prst="rect">
            <a:avLst/>
          </a:prstGeom>
        </p:spPr>
      </p:pic>
    </p:spTree>
    <p:extLst>
      <p:ext uri="{BB962C8B-B14F-4D97-AF65-F5344CB8AC3E}">
        <p14:creationId xmlns:p14="http://schemas.microsoft.com/office/powerpoint/2010/main" val="60063808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230232075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3572901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323274445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413934225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973531675"/>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426517207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381589432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129751564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835F8B7-1638-4C91-AD8A-32E5AF4EFEFC}" type="datetimeFigureOut">
              <a:rPr lang="zh-CN" altLang="en-US" smtClean="0"/>
              <a:pPr/>
              <a:t>2019/9/26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210296397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390176"/>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812341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067220"/>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83382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261781"/>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503879"/>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835F8B7-1638-4C91-AD8A-32E5AF4EFEFC}" type="datetimeFigureOut">
              <a:rPr lang="zh-CN" altLang="en-US" smtClean="0"/>
              <a:pPr/>
              <a:t>2019/9/26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A5A25E3-577F-4E50-BD97-3350BFBFC773}" type="slidenum">
              <a:rPr lang="zh-CN" altLang="en-US" smtClean="0"/>
              <a:pPr/>
              <a:t>‹#›</a:t>
            </a:fld>
            <a:endParaRPr lang="zh-CN" altLang="en-US"/>
          </a:p>
        </p:txBody>
      </p:sp>
    </p:spTree>
    <p:extLst>
      <p:ext uri="{BB962C8B-B14F-4D97-AF65-F5344CB8AC3E}">
        <p14:creationId xmlns:p14="http://schemas.microsoft.com/office/powerpoint/2010/main" val="28936285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4" y="0"/>
            <a:ext cx="9141291" cy="5143500"/>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09" y="9352"/>
            <a:ext cx="9141291" cy="5143500"/>
          </a:xfrm>
          <a:prstGeom prst="rect">
            <a:avLst/>
          </a:prstGeom>
        </p:spPr>
      </p:pic>
      <p:pic>
        <p:nvPicPr>
          <p:cNvPr id="3" name="图片 2"/>
          <p:cNvPicPr>
            <a:picLocks noChangeAspect="1"/>
          </p:cNvPicPr>
          <p:nvPr/>
        </p:nvPicPr>
        <p:blipFill rotWithShape="1">
          <a:blip r:embed="rId5" cstate="print">
            <a:extLst>
              <a:ext uri="{28A0092B-C50C-407E-A947-70E740481C1C}">
                <a14:useLocalDpi xmlns:a14="http://schemas.microsoft.com/office/drawing/2010/main" val="0"/>
              </a:ext>
            </a:extLst>
          </a:blip>
          <a:srcRect l="29903" t="5656" r="19445" b="16283"/>
          <a:stretch/>
        </p:blipFill>
        <p:spPr>
          <a:xfrm>
            <a:off x="2734887" y="290945"/>
            <a:ext cx="4630189" cy="4015048"/>
          </a:xfrm>
          <a:prstGeom prst="rect">
            <a:avLst/>
          </a:prstGeom>
        </p:spPr>
      </p:pic>
      <p:pic>
        <p:nvPicPr>
          <p:cNvPr id="23" name="图片 22"/>
          <p:cNvPicPr>
            <a:picLocks noChangeAspect="1"/>
          </p:cNvPicPr>
          <p:nvPr/>
        </p:nvPicPr>
        <p:blipFill rotWithShape="1">
          <a:blip r:embed="rId6" cstate="print">
            <a:extLst>
              <a:ext uri="{28A0092B-C50C-407E-A947-70E740481C1C}">
                <a14:useLocalDpi xmlns:a14="http://schemas.microsoft.com/office/drawing/2010/main" val="0"/>
              </a:ext>
            </a:extLst>
          </a:blip>
          <a:srcRect l="23356" t="1939" r="16081" b="1575"/>
          <a:stretch/>
        </p:blipFill>
        <p:spPr>
          <a:xfrm>
            <a:off x="1475997" y="84466"/>
            <a:ext cx="5536276" cy="4962698"/>
          </a:xfrm>
          <a:prstGeom prst="rect">
            <a:avLst/>
          </a:prstGeom>
        </p:spPr>
      </p:pic>
      <p:sp>
        <p:nvSpPr>
          <p:cNvPr id="19" name="圆角矩形 18"/>
          <p:cNvSpPr/>
          <p:nvPr/>
        </p:nvSpPr>
        <p:spPr>
          <a:xfrm>
            <a:off x="2124614" y="783267"/>
            <a:ext cx="4608502" cy="729422"/>
          </a:xfrm>
          <a:prstGeom prst="roundRect">
            <a:avLst>
              <a:gd name="adj" fmla="val 42270"/>
            </a:avLst>
          </a:prstGeom>
          <a:solidFill>
            <a:schemeClr val="bg1">
              <a:lumMod val="85000"/>
            </a:schemeClr>
          </a:soli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dirty="0">
                <a:solidFill>
                  <a:srgbClr val="FF0000"/>
                </a:solidFill>
              </a:rPr>
              <a:t>趣味图像处理</a:t>
            </a:r>
          </a:p>
        </p:txBody>
      </p:sp>
      <p:pic>
        <p:nvPicPr>
          <p:cNvPr id="21" name="图片 20"/>
          <p:cNvPicPr>
            <a:picLocks noChangeAspect="1"/>
          </p:cNvPicPr>
          <p:nvPr/>
        </p:nvPicPr>
        <p:blipFill rotWithShape="1">
          <a:blip r:embed="rId7" cstate="print">
            <a:extLst>
              <a:ext uri="{28A0092B-C50C-407E-A947-70E740481C1C}">
                <a14:useLocalDpi xmlns:a14="http://schemas.microsoft.com/office/drawing/2010/main" val="0"/>
              </a:ext>
            </a:extLst>
          </a:blip>
          <a:srcRect l="27630" t="11313" r="21810" b="16283"/>
          <a:stretch/>
        </p:blipFill>
        <p:spPr>
          <a:xfrm>
            <a:off x="2111240" y="783267"/>
            <a:ext cx="4621876" cy="3724103"/>
          </a:xfrm>
          <a:prstGeom prst="rect">
            <a:avLst/>
          </a:prstGeom>
        </p:spPr>
      </p:pic>
      <p:sp>
        <p:nvSpPr>
          <p:cNvPr id="10" name="圆角矩形 18">
            <a:extLst>
              <a:ext uri="{FF2B5EF4-FFF2-40B4-BE49-F238E27FC236}">
                <a16:creationId xmlns:a16="http://schemas.microsoft.com/office/drawing/2014/main" id="{2679BFF0-624E-4EC8-AD80-D590C2704BEF}"/>
              </a:ext>
            </a:extLst>
          </p:cNvPr>
          <p:cNvSpPr/>
          <p:nvPr/>
        </p:nvSpPr>
        <p:spPr>
          <a:xfrm>
            <a:off x="4428865" y="4053720"/>
            <a:ext cx="4608502" cy="729422"/>
          </a:xfrm>
          <a:prstGeom prst="roundRect">
            <a:avLst>
              <a:gd name="adj" fmla="val 42270"/>
            </a:avLst>
          </a:prstGeom>
          <a:solidFill>
            <a:schemeClr val="bg1">
              <a:lumMod val="85000"/>
            </a:schemeClr>
          </a:solidFill>
          <a:ln>
            <a:noFill/>
          </a:ln>
          <a:effectLst>
            <a:innerShdw blurRad="63500" dist="127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dirty="0">
                <a:solidFill>
                  <a:srgbClr val="FF0000"/>
                </a:solidFill>
              </a:rPr>
              <a:t>张坤     计科</a:t>
            </a:r>
            <a:r>
              <a:rPr lang="en-US" altLang="zh-CN" sz="4400" dirty="0">
                <a:solidFill>
                  <a:srgbClr val="FF0000"/>
                </a:solidFill>
              </a:rPr>
              <a:t>1701</a:t>
            </a:r>
            <a:endParaRPr lang="zh-CN" altLang="en-US" sz="4400" dirty="0">
              <a:solidFill>
                <a:srgbClr val="FF0000"/>
              </a:solidFill>
            </a:endParaRPr>
          </a:p>
        </p:txBody>
      </p:sp>
    </p:spTree>
    <p:extLst>
      <p:ext uri="{BB962C8B-B14F-4D97-AF65-F5344CB8AC3E}">
        <p14:creationId xmlns:p14="http://schemas.microsoft.com/office/powerpoint/2010/main" val="3649336817"/>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1"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8)">
                                      <p:cBhvr>
                                        <p:cTn id="11" dur="2000"/>
                                        <p:tgtEl>
                                          <p:spTgt spid="2"/>
                                        </p:tgtEl>
                                      </p:cBhvr>
                                    </p:animEffect>
                                  </p:childTnLst>
                                </p:cTn>
                              </p:par>
                            </p:childTnLst>
                          </p:cTn>
                        </p:par>
                        <p:par>
                          <p:cTn id="12" fill="hold">
                            <p:stCondLst>
                              <p:cond delay="2500"/>
                            </p:stCondLst>
                            <p:childTnLst>
                              <p:par>
                                <p:cTn id="13" presetID="22" presetClass="entr" presetSubtype="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right)">
                                      <p:cBhvr>
                                        <p:cTn id="15" dur="500"/>
                                        <p:tgtEl>
                                          <p:spTgt spid="4"/>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left)">
                                      <p:cBhvr>
                                        <p:cTn id="19" dur="500"/>
                                        <p:tgtEl>
                                          <p:spTgt spid="23"/>
                                        </p:tgtEl>
                                      </p:cBhvr>
                                    </p:animEffect>
                                  </p:childTnLst>
                                </p:cTn>
                              </p:par>
                            </p:childTnLst>
                          </p:cTn>
                        </p:par>
                        <p:par>
                          <p:cTn id="20" fill="hold">
                            <p:stCondLst>
                              <p:cond delay="3500"/>
                            </p:stCondLst>
                            <p:childTnLst>
                              <p:par>
                                <p:cTn id="21" presetID="53" presetClass="entr" presetSubtype="16"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250" fill="hold"/>
                                        <p:tgtEl>
                                          <p:spTgt spid="3"/>
                                        </p:tgtEl>
                                        <p:attrNameLst>
                                          <p:attrName>ppt_w</p:attrName>
                                        </p:attrNameLst>
                                      </p:cBhvr>
                                      <p:tavLst>
                                        <p:tav tm="0">
                                          <p:val>
                                            <p:fltVal val="0"/>
                                          </p:val>
                                        </p:tav>
                                        <p:tav tm="100000">
                                          <p:val>
                                            <p:strVal val="#ppt_w"/>
                                          </p:val>
                                        </p:tav>
                                      </p:tavLst>
                                    </p:anim>
                                    <p:anim calcmode="lin" valueType="num">
                                      <p:cBhvr>
                                        <p:cTn id="24" dur="1250" fill="hold"/>
                                        <p:tgtEl>
                                          <p:spTgt spid="3"/>
                                        </p:tgtEl>
                                        <p:attrNameLst>
                                          <p:attrName>ppt_h</p:attrName>
                                        </p:attrNameLst>
                                      </p:cBhvr>
                                      <p:tavLst>
                                        <p:tav tm="0">
                                          <p:val>
                                            <p:fltVal val="0"/>
                                          </p:val>
                                        </p:tav>
                                        <p:tav tm="100000">
                                          <p:val>
                                            <p:strVal val="#ppt_h"/>
                                          </p:val>
                                        </p:tav>
                                      </p:tavLst>
                                    </p:anim>
                                    <p:animEffect transition="in" filter="fade">
                                      <p:cBhvr>
                                        <p:cTn id="25" dur="1250"/>
                                        <p:tgtEl>
                                          <p:spTgt spid="3"/>
                                        </p:tgtEl>
                                      </p:cBhvr>
                                    </p:animEffect>
                                  </p:childTnLst>
                                </p:cTn>
                              </p:par>
                            </p:childTnLst>
                          </p:cTn>
                        </p:par>
                        <p:par>
                          <p:cTn id="26" fill="hold">
                            <p:stCondLst>
                              <p:cond delay="4750"/>
                            </p:stCondLst>
                            <p:childTnLst>
                              <p:par>
                                <p:cTn id="27" presetID="53" presetClass="entr" presetSubtype="16"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animEffect transition="in" filter="fade">
                                      <p:cBhvr>
                                        <p:cTn id="31" dur="500"/>
                                        <p:tgtEl>
                                          <p:spTgt spid="21"/>
                                        </p:tgtEl>
                                      </p:cBhvr>
                                    </p:animEffect>
                                  </p:childTnLst>
                                </p:cTn>
                              </p:par>
                            </p:childTnLst>
                          </p:cTn>
                        </p:par>
                        <p:par>
                          <p:cTn id="32" fill="hold">
                            <p:stCondLst>
                              <p:cond delay="525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图片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1291" cy="5143500"/>
          </a:xfrm>
          <a:prstGeom prst="rect">
            <a:avLst/>
          </a:prstGeom>
        </p:spPr>
      </p:pic>
      <p:sp>
        <p:nvSpPr>
          <p:cNvPr id="21" name="文本框 19"/>
          <p:cNvSpPr txBox="1"/>
          <p:nvPr/>
        </p:nvSpPr>
        <p:spPr>
          <a:xfrm flipH="1">
            <a:off x="2034862" y="3117466"/>
            <a:ext cx="2188560" cy="392415"/>
          </a:xfrm>
          <a:prstGeom prst="rect">
            <a:avLst/>
          </a:prstGeom>
          <a:noFill/>
        </p:spPr>
        <p:txBody>
          <a:bodyPr wrap="square" lIns="68580" tIns="34290" rIns="68580" bIns="34290" rtlCol="0">
            <a:spAutoFit/>
          </a:bodyPr>
          <a:lstStyle/>
          <a:p>
            <a:r>
              <a:rPr lang="en-US" altLang="zh-CN" sz="2100" dirty="0" err="1">
                <a:solidFill>
                  <a:srgbClr val="E1CF9A">
                    <a:alpha val="99000"/>
                  </a:srgbClr>
                </a:solidFill>
                <a:latin typeface="时尚中黑简体" pitchFamily="2" charset="-122"/>
                <a:ea typeface="时尚中黑简体" pitchFamily="2" charset="-122"/>
              </a:rPr>
              <a:t>Distance_field</a:t>
            </a:r>
            <a:endParaRPr lang="zh-CN" altLang="en-US" sz="2100" dirty="0">
              <a:solidFill>
                <a:srgbClr val="E1CF9A">
                  <a:alpha val="99000"/>
                </a:srgbClr>
              </a:solidFill>
              <a:latin typeface="时尚中黑简体" pitchFamily="2" charset="-122"/>
              <a:ea typeface="时尚中黑简体" pitchFamily="2" charset="-122"/>
            </a:endParaRPr>
          </a:p>
        </p:txBody>
      </p:sp>
      <p:sp>
        <p:nvSpPr>
          <p:cNvPr id="22" name="文本框 28"/>
          <p:cNvSpPr txBox="1"/>
          <p:nvPr/>
        </p:nvSpPr>
        <p:spPr>
          <a:xfrm flipH="1">
            <a:off x="3453211" y="2423944"/>
            <a:ext cx="1754114" cy="392415"/>
          </a:xfrm>
          <a:prstGeom prst="rect">
            <a:avLst/>
          </a:prstGeom>
          <a:noFill/>
        </p:spPr>
        <p:txBody>
          <a:bodyPr wrap="square" lIns="68580" tIns="34290" rIns="68580" bIns="34290" rtlCol="0">
            <a:spAutoFit/>
          </a:bodyPr>
          <a:lstStyle/>
          <a:p>
            <a:r>
              <a:rPr lang="en-US" altLang="zh-CN" sz="2100" dirty="0">
                <a:solidFill>
                  <a:srgbClr val="E1CF9A">
                    <a:alpha val="99000"/>
                  </a:srgbClr>
                </a:solidFill>
                <a:latin typeface="时尚中黑简体" pitchFamily="2" charset="-122"/>
                <a:ea typeface="时尚中黑简体" pitchFamily="2" charset="-122"/>
              </a:rPr>
              <a:t>binary</a:t>
            </a:r>
            <a:endParaRPr lang="zh-CN" altLang="en-US" sz="2100" dirty="0">
              <a:solidFill>
                <a:srgbClr val="E1CF9A">
                  <a:alpha val="99000"/>
                </a:srgbClr>
              </a:solidFill>
              <a:latin typeface="时尚中黑简体" pitchFamily="2" charset="-122"/>
              <a:ea typeface="时尚中黑简体" pitchFamily="2" charset="-122"/>
            </a:endParaRPr>
          </a:p>
        </p:txBody>
      </p:sp>
      <p:sp>
        <p:nvSpPr>
          <p:cNvPr id="23" name="文本框 32"/>
          <p:cNvSpPr txBox="1"/>
          <p:nvPr/>
        </p:nvSpPr>
        <p:spPr>
          <a:xfrm flipH="1">
            <a:off x="4634252" y="3053073"/>
            <a:ext cx="1754114" cy="392415"/>
          </a:xfrm>
          <a:prstGeom prst="rect">
            <a:avLst/>
          </a:prstGeom>
          <a:noFill/>
        </p:spPr>
        <p:txBody>
          <a:bodyPr wrap="square" lIns="68580" tIns="34290" rIns="68580" bIns="34290" rtlCol="0">
            <a:spAutoFit/>
          </a:bodyPr>
          <a:lstStyle/>
          <a:p>
            <a:r>
              <a:rPr lang="en-US" altLang="zh-CN" sz="2100" dirty="0">
                <a:solidFill>
                  <a:srgbClr val="E1CF9A">
                    <a:alpha val="99000"/>
                  </a:srgbClr>
                </a:solidFill>
                <a:latin typeface="时尚中黑简体" pitchFamily="2" charset="-122"/>
                <a:ea typeface="时尚中黑简体" pitchFamily="2" charset="-122"/>
              </a:rPr>
              <a:t>segment</a:t>
            </a:r>
            <a:endParaRPr lang="zh-CN" altLang="en-US" sz="2100" dirty="0">
              <a:solidFill>
                <a:srgbClr val="E1CF9A">
                  <a:alpha val="99000"/>
                </a:srgbClr>
              </a:solidFill>
              <a:latin typeface="时尚中黑简体" pitchFamily="2" charset="-122"/>
              <a:ea typeface="时尚中黑简体" pitchFamily="2" charset="-122"/>
            </a:endParaRPr>
          </a:p>
        </p:txBody>
      </p:sp>
      <p:sp>
        <p:nvSpPr>
          <p:cNvPr id="24" name="文本框 15"/>
          <p:cNvSpPr txBox="1"/>
          <p:nvPr/>
        </p:nvSpPr>
        <p:spPr>
          <a:xfrm flipH="1">
            <a:off x="715194" y="2425806"/>
            <a:ext cx="1754114" cy="392415"/>
          </a:xfrm>
          <a:prstGeom prst="rect">
            <a:avLst/>
          </a:prstGeom>
          <a:noFill/>
        </p:spPr>
        <p:txBody>
          <a:bodyPr wrap="square" lIns="68580" tIns="34290" rIns="68580" bIns="34290" rtlCol="0">
            <a:spAutoFit/>
          </a:bodyPr>
          <a:lstStyle/>
          <a:p>
            <a:r>
              <a:rPr lang="en-US" altLang="zh-CN" sz="2100" dirty="0">
                <a:solidFill>
                  <a:srgbClr val="E1CF9A">
                    <a:alpha val="99000"/>
                  </a:srgbClr>
                </a:solidFill>
                <a:latin typeface="时尚中黑简体" pitchFamily="2" charset="-122"/>
                <a:ea typeface="时尚中黑简体" pitchFamily="2" charset="-122"/>
              </a:rPr>
              <a:t>gamma</a:t>
            </a:r>
            <a:endParaRPr lang="zh-CN" altLang="en-US" sz="2100" dirty="0">
              <a:solidFill>
                <a:srgbClr val="E1CF9A">
                  <a:alpha val="99000"/>
                </a:srgbClr>
              </a:solidFill>
              <a:latin typeface="时尚中黑简体" pitchFamily="2" charset="-122"/>
              <a:ea typeface="时尚中黑简体" pitchFamily="2" charset="-122"/>
            </a:endParaRPr>
          </a:p>
        </p:txBody>
      </p:sp>
      <p:sp>
        <p:nvSpPr>
          <p:cNvPr id="50" name="文本框 19">
            <a:extLst>
              <a:ext uri="{FF2B5EF4-FFF2-40B4-BE49-F238E27FC236}">
                <a16:creationId xmlns:a16="http://schemas.microsoft.com/office/drawing/2014/main" id="{9F94ED01-0927-4236-9B4A-0F7989830B2C}"/>
              </a:ext>
            </a:extLst>
          </p:cNvPr>
          <p:cNvSpPr txBox="1"/>
          <p:nvPr/>
        </p:nvSpPr>
        <p:spPr>
          <a:xfrm flipH="1">
            <a:off x="2685244" y="792187"/>
            <a:ext cx="4481848" cy="392415"/>
          </a:xfrm>
          <a:prstGeom prst="rect">
            <a:avLst/>
          </a:prstGeom>
          <a:noFill/>
        </p:spPr>
        <p:txBody>
          <a:bodyPr wrap="square" lIns="68580" tIns="34290" rIns="68580" bIns="34290" rtlCol="0">
            <a:spAutoFit/>
          </a:bodyPr>
          <a:lstStyle/>
          <a:p>
            <a:r>
              <a:rPr lang="en-US" altLang="zh-CN" sz="2100" dirty="0">
                <a:solidFill>
                  <a:srgbClr val="E1CF9A">
                    <a:alpha val="99000"/>
                  </a:srgbClr>
                </a:solidFill>
                <a:latin typeface="时尚中黑简体" pitchFamily="2" charset="-122"/>
                <a:ea typeface="时尚中黑简体" pitchFamily="2" charset="-122"/>
              </a:rPr>
              <a:t>Image process algorithm</a:t>
            </a:r>
            <a:endParaRPr lang="zh-CN" altLang="en-US" sz="2100" dirty="0">
              <a:solidFill>
                <a:srgbClr val="E1CF9A">
                  <a:alpha val="99000"/>
                </a:srgbClr>
              </a:solidFill>
              <a:latin typeface="时尚中黑简体" pitchFamily="2" charset="-122"/>
              <a:ea typeface="时尚中黑简体" pitchFamily="2" charset="-122"/>
            </a:endParaRPr>
          </a:p>
        </p:txBody>
      </p:sp>
      <p:sp>
        <p:nvSpPr>
          <p:cNvPr id="51" name="文本框 32">
            <a:extLst>
              <a:ext uri="{FF2B5EF4-FFF2-40B4-BE49-F238E27FC236}">
                <a16:creationId xmlns:a16="http://schemas.microsoft.com/office/drawing/2014/main" id="{875027A8-B3C5-41BE-93A0-22AD52D688A3}"/>
              </a:ext>
            </a:extLst>
          </p:cNvPr>
          <p:cNvSpPr txBox="1"/>
          <p:nvPr/>
        </p:nvSpPr>
        <p:spPr>
          <a:xfrm flipH="1">
            <a:off x="6216984" y="2611429"/>
            <a:ext cx="1754114" cy="392415"/>
          </a:xfrm>
          <a:prstGeom prst="rect">
            <a:avLst/>
          </a:prstGeom>
          <a:noFill/>
        </p:spPr>
        <p:txBody>
          <a:bodyPr wrap="square" lIns="68580" tIns="34290" rIns="68580" bIns="34290" rtlCol="0">
            <a:spAutoFit/>
          </a:bodyPr>
          <a:lstStyle/>
          <a:p>
            <a:r>
              <a:rPr lang="en-US" altLang="zh-CN" sz="2100" dirty="0">
                <a:solidFill>
                  <a:srgbClr val="E1CF9A">
                    <a:alpha val="99000"/>
                  </a:srgbClr>
                </a:solidFill>
                <a:latin typeface="时尚中黑简体" pitchFamily="2" charset="-122"/>
                <a:ea typeface="时尚中黑简体" pitchFamily="2" charset="-122"/>
              </a:rPr>
              <a:t>……</a:t>
            </a:r>
            <a:endParaRPr lang="zh-CN" altLang="en-US" sz="2100" dirty="0">
              <a:solidFill>
                <a:srgbClr val="E1CF9A">
                  <a:alpha val="99000"/>
                </a:srgbClr>
              </a:solidFill>
              <a:latin typeface="时尚中黑简体" pitchFamily="2" charset="-122"/>
              <a:ea typeface="时尚中黑简体" pitchFamily="2" charset="-122"/>
            </a:endParaRPr>
          </a:p>
        </p:txBody>
      </p:sp>
    </p:spTree>
    <p:extLst>
      <p:ext uri="{BB962C8B-B14F-4D97-AF65-F5344CB8AC3E}">
        <p14:creationId xmlns:p14="http://schemas.microsoft.com/office/powerpoint/2010/main" val="192927496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5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400" fill="hold"/>
                                        <p:tgtEl>
                                          <p:spTgt spid="24"/>
                                        </p:tgtEl>
                                        <p:attrNameLst>
                                          <p:attrName>ppt_x</p:attrName>
                                        </p:attrNameLst>
                                      </p:cBhvr>
                                      <p:tavLst>
                                        <p:tav tm="0">
                                          <p:val>
                                            <p:strVal val="#ppt_x"/>
                                          </p:val>
                                        </p:tav>
                                        <p:tav tm="100000">
                                          <p:val>
                                            <p:strVal val="#ppt_x"/>
                                          </p:val>
                                        </p:tav>
                                      </p:tavLst>
                                    </p:anim>
                                    <p:anim calcmode="lin" valueType="num">
                                      <p:cBhvr additive="base">
                                        <p:cTn id="8" dur="4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75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400" fill="hold"/>
                                        <p:tgtEl>
                                          <p:spTgt spid="21"/>
                                        </p:tgtEl>
                                        <p:attrNameLst>
                                          <p:attrName>ppt_x</p:attrName>
                                        </p:attrNameLst>
                                      </p:cBhvr>
                                      <p:tavLst>
                                        <p:tav tm="0">
                                          <p:val>
                                            <p:strVal val="#ppt_x"/>
                                          </p:val>
                                        </p:tav>
                                        <p:tav tm="100000">
                                          <p:val>
                                            <p:strVal val="#ppt_x"/>
                                          </p:val>
                                        </p:tav>
                                      </p:tavLst>
                                    </p:anim>
                                    <p:anim calcmode="lin" valueType="num">
                                      <p:cBhvr additive="base">
                                        <p:cTn id="12" dur="4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25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400" fill="hold"/>
                                        <p:tgtEl>
                                          <p:spTgt spid="22"/>
                                        </p:tgtEl>
                                        <p:attrNameLst>
                                          <p:attrName>ppt_x</p:attrName>
                                        </p:attrNameLst>
                                      </p:cBhvr>
                                      <p:tavLst>
                                        <p:tav tm="0">
                                          <p:val>
                                            <p:strVal val="#ppt_x"/>
                                          </p:val>
                                        </p:tav>
                                        <p:tav tm="100000">
                                          <p:val>
                                            <p:strVal val="#ppt_x"/>
                                          </p:val>
                                        </p:tav>
                                      </p:tavLst>
                                    </p:anim>
                                    <p:anim calcmode="lin" valueType="num">
                                      <p:cBhvr additive="base">
                                        <p:cTn id="16" dur="4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75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400" fill="hold"/>
                                        <p:tgtEl>
                                          <p:spTgt spid="23"/>
                                        </p:tgtEl>
                                        <p:attrNameLst>
                                          <p:attrName>ppt_x</p:attrName>
                                        </p:attrNameLst>
                                      </p:cBhvr>
                                      <p:tavLst>
                                        <p:tav tm="0">
                                          <p:val>
                                            <p:strVal val="#ppt_x"/>
                                          </p:val>
                                        </p:tav>
                                        <p:tav tm="100000">
                                          <p:val>
                                            <p:strVal val="#ppt_x"/>
                                          </p:val>
                                        </p:tav>
                                      </p:tavLst>
                                    </p:anim>
                                    <p:anim calcmode="lin" valueType="num">
                                      <p:cBhvr additive="base">
                                        <p:cTn id="20" dur="400" fill="hold"/>
                                        <p:tgtEl>
                                          <p:spTgt spid="2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75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400" fill="hold"/>
                                        <p:tgtEl>
                                          <p:spTgt spid="50"/>
                                        </p:tgtEl>
                                        <p:attrNameLst>
                                          <p:attrName>ppt_x</p:attrName>
                                        </p:attrNameLst>
                                      </p:cBhvr>
                                      <p:tavLst>
                                        <p:tav tm="0">
                                          <p:val>
                                            <p:strVal val="#ppt_x"/>
                                          </p:val>
                                        </p:tav>
                                        <p:tav tm="100000">
                                          <p:val>
                                            <p:strVal val="#ppt_x"/>
                                          </p:val>
                                        </p:tav>
                                      </p:tavLst>
                                    </p:anim>
                                    <p:anim calcmode="lin" valueType="num">
                                      <p:cBhvr additive="base">
                                        <p:cTn id="24" dur="400" fill="hold"/>
                                        <p:tgtEl>
                                          <p:spTgt spid="5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75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400" fill="hold"/>
                                        <p:tgtEl>
                                          <p:spTgt spid="51"/>
                                        </p:tgtEl>
                                        <p:attrNameLst>
                                          <p:attrName>ppt_x</p:attrName>
                                        </p:attrNameLst>
                                      </p:cBhvr>
                                      <p:tavLst>
                                        <p:tav tm="0">
                                          <p:val>
                                            <p:strVal val="#ppt_x"/>
                                          </p:val>
                                        </p:tav>
                                        <p:tav tm="100000">
                                          <p:val>
                                            <p:strVal val="#ppt_x"/>
                                          </p:val>
                                        </p:tav>
                                      </p:tavLst>
                                    </p:anim>
                                    <p:anim calcmode="lin" valueType="num">
                                      <p:cBhvr additive="base">
                                        <p:cTn id="28" dur="4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50" grpId="0"/>
      <p:bldP spid="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4" y="0"/>
            <a:ext cx="9141291" cy="5143500"/>
          </a:xfrm>
          <a:prstGeom prst="rect">
            <a:avLst/>
          </a:prstGeom>
        </p:spPr>
      </p:pic>
      <p:sp>
        <p:nvSpPr>
          <p:cNvPr id="7" name="文本框 15">
            <a:extLst>
              <a:ext uri="{FF2B5EF4-FFF2-40B4-BE49-F238E27FC236}">
                <a16:creationId xmlns:a16="http://schemas.microsoft.com/office/drawing/2014/main" id="{8254BBE7-E452-4AE3-B00E-E3B9CBA1B54A}"/>
              </a:ext>
            </a:extLst>
          </p:cNvPr>
          <p:cNvSpPr txBox="1"/>
          <p:nvPr/>
        </p:nvSpPr>
        <p:spPr>
          <a:xfrm flipH="1">
            <a:off x="2638666" y="2425806"/>
            <a:ext cx="3866666" cy="1038746"/>
          </a:xfrm>
          <a:prstGeom prst="rect">
            <a:avLst/>
          </a:prstGeom>
          <a:noFill/>
        </p:spPr>
        <p:txBody>
          <a:bodyPr wrap="square" lIns="68580" tIns="34290" rIns="68580" bIns="34290" rtlCol="0">
            <a:spAutoFit/>
          </a:bodyPr>
          <a:lstStyle/>
          <a:p>
            <a:r>
              <a:rPr lang="zh-CN" altLang="en-US" sz="2100" dirty="0">
                <a:solidFill>
                  <a:srgbClr val="E1CF9A">
                    <a:alpha val="99000"/>
                  </a:srgbClr>
                </a:solidFill>
                <a:latin typeface="时尚中黑简体" pitchFamily="2" charset="-122"/>
                <a:ea typeface="时尚中黑简体" pitchFamily="2" charset="-122"/>
              </a:rPr>
              <a:t>伽马变换：在图像处理中，将漂白</a:t>
            </a:r>
            <a:r>
              <a:rPr lang="en-US" altLang="zh-CN" sz="2100" dirty="0">
                <a:solidFill>
                  <a:srgbClr val="E1CF9A">
                    <a:alpha val="99000"/>
                  </a:srgbClr>
                </a:solidFill>
                <a:latin typeface="时尚中黑简体" pitchFamily="2" charset="-122"/>
                <a:ea typeface="时尚中黑简体" pitchFamily="2" charset="-122"/>
              </a:rPr>
              <a:t>(</a:t>
            </a:r>
            <a:r>
              <a:rPr lang="zh-CN" altLang="en-US" sz="2100" dirty="0">
                <a:solidFill>
                  <a:srgbClr val="E1CF9A">
                    <a:alpha val="99000"/>
                  </a:srgbClr>
                </a:solidFill>
                <a:latin typeface="时尚中黑简体" pitchFamily="2" charset="-122"/>
                <a:ea typeface="时尚中黑简体" pitchFamily="2" charset="-122"/>
              </a:rPr>
              <a:t>相机过曝</a:t>
            </a:r>
            <a:r>
              <a:rPr lang="en-US" altLang="zh-CN" sz="2100" dirty="0">
                <a:solidFill>
                  <a:srgbClr val="E1CF9A">
                    <a:alpha val="99000"/>
                  </a:srgbClr>
                </a:solidFill>
                <a:latin typeface="时尚中黑简体" pitchFamily="2" charset="-122"/>
                <a:ea typeface="时尚中黑简体" pitchFamily="2" charset="-122"/>
              </a:rPr>
              <a:t>)</a:t>
            </a:r>
            <a:r>
              <a:rPr lang="zh-CN" altLang="en-US" sz="2100" dirty="0">
                <a:solidFill>
                  <a:srgbClr val="E1CF9A">
                    <a:alpha val="99000"/>
                  </a:srgbClr>
                </a:solidFill>
                <a:latin typeface="时尚中黑简体" pitchFamily="2" charset="-122"/>
                <a:ea typeface="时尚中黑简体" pitchFamily="2" charset="-122"/>
              </a:rPr>
              <a:t>的图片或者过暗</a:t>
            </a:r>
            <a:r>
              <a:rPr lang="en-US" altLang="zh-CN" sz="2100" dirty="0">
                <a:solidFill>
                  <a:srgbClr val="E1CF9A">
                    <a:alpha val="99000"/>
                  </a:srgbClr>
                </a:solidFill>
                <a:latin typeface="时尚中黑简体" pitchFamily="2" charset="-122"/>
                <a:ea typeface="时尚中黑简体" pitchFamily="2" charset="-122"/>
              </a:rPr>
              <a:t>(</a:t>
            </a:r>
            <a:r>
              <a:rPr lang="zh-CN" altLang="en-US" sz="2100" dirty="0">
                <a:solidFill>
                  <a:srgbClr val="E1CF9A">
                    <a:alpha val="99000"/>
                  </a:srgbClr>
                </a:solidFill>
                <a:latin typeface="时尚中黑简体" pitchFamily="2" charset="-122"/>
                <a:ea typeface="时尚中黑简体" pitchFamily="2" charset="-122"/>
              </a:rPr>
              <a:t>曝光不足</a:t>
            </a:r>
            <a:r>
              <a:rPr lang="en-US" altLang="zh-CN" sz="2100" dirty="0">
                <a:solidFill>
                  <a:srgbClr val="E1CF9A">
                    <a:alpha val="99000"/>
                  </a:srgbClr>
                </a:solidFill>
                <a:latin typeface="时尚中黑简体" pitchFamily="2" charset="-122"/>
                <a:ea typeface="时尚中黑简体" pitchFamily="2" charset="-122"/>
              </a:rPr>
              <a:t>)</a:t>
            </a:r>
            <a:r>
              <a:rPr lang="zh-CN" altLang="en-US" sz="2100" dirty="0">
                <a:solidFill>
                  <a:srgbClr val="E1CF9A">
                    <a:alpha val="99000"/>
                  </a:srgbClr>
                </a:solidFill>
                <a:latin typeface="时尚中黑简体" pitchFamily="2" charset="-122"/>
                <a:ea typeface="时尚中黑简体" pitchFamily="2" charset="-122"/>
              </a:rPr>
              <a:t>的图片，进行修正</a:t>
            </a:r>
          </a:p>
        </p:txBody>
      </p:sp>
      <p:sp>
        <p:nvSpPr>
          <p:cNvPr id="8" name="文本框 15">
            <a:extLst>
              <a:ext uri="{FF2B5EF4-FFF2-40B4-BE49-F238E27FC236}">
                <a16:creationId xmlns:a16="http://schemas.microsoft.com/office/drawing/2014/main" id="{F63C3E6F-EAA6-46BB-B501-380FF8FBDEB3}"/>
              </a:ext>
            </a:extLst>
          </p:cNvPr>
          <p:cNvSpPr txBox="1"/>
          <p:nvPr/>
        </p:nvSpPr>
        <p:spPr>
          <a:xfrm flipH="1">
            <a:off x="3920114" y="719863"/>
            <a:ext cx="3866666" cy="392415"/>
          </a:xfrm>
          <a:prstGeom prst="rect">
            <a:avLst/>
          </a:prstGeom>
          <a:noFill/>
        </p:spPr>
        <p:txBody>
          <a:bodyPr wrap="square" lIns="68580" tIns="34290" rIns="68580" bIns="34290" rtlCol="0">
            <a:spAutoFit/>
          </a:bodyPr>
          <a:lstStyle/>
          <a:p>
            <a:r>
              <a:rPr lang="en-US" altLang="zh-CN" sz="2100" dirty="0">
                <a:solidFill>
                  <a:srgbClr val="E1CF9A">
                    <a:alpha val="99000"/>
                  </a:srgbClr>
                </a:solidFill>
                <a:latin typeface="时尚中黑简体" pitchFamily="2" charset="-122"/>
                <a:ea typeface="时尚中黑简体" pitchFamily="2" charset="-122"/>
              </a:rPr>
              <a:t>gamma</a:t>
            </a:r>
            <a:endParaRPr lang="zh-CN" altLang="en-US" sz="2100" dirty="0">
              <a:solidFill>
                <a:srgbClr val="E1CF9A">
                  <a:alpha val="99000"/>
                </a:srgbClr>
              </a:solidFill>
              <a:latin typeface="时尚中黑简体" pitchFamily="2" charset="-122"/>
              <a:ea typeface="时尚中黑简体" pitchFamily="2" charset="-122"/>
            </a:endParaRPr>
          </a:p>
        </p:txBody>
      </p:sp>
    </p:spTree>
    <p:extLst>
      <p:ext uri="{BB962C8B-B14F-4D97-AF65-F5344CB8AC3E}">
        <p14:creationId xmlns:p14="http://schemas.microsoft.com/office/powerpoint/2010/main" val="437317055"/>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400" fill="hold"/>
                                        <p:tgtEl>
                                          <p:spTgt spid="7"/>
                                        </p:tgtEl>
                                        <p:attrNameLst>
                                          <p:attrName>ppt_x</p:attrName>
                                        </p:attrNameLst>
                                      </p:cBhvr>
                                      <p:tavLst>
                                        <p:tav tm="0">
                                          <p:val>
                                            <p:strVal val="#ppt_x"/>
                                          </p:val>
                                        </p:tav>
                                        <p:tav tm="100000">
                                          <p:val>
                                            <p:strVal val="#ppt_x"/>
                                          </p:val>
                                        </p:tav>
                                      </p:tavLst>
                                    </p:anim>
                                    <p:anim calcmode="lin" valueType="num">
                                      <p:cBhvr additive="base">
                                        <p:cTn id="8" dur="4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400" fill="hold"/>
                                        <p:tgtEl>
                                          <p:spTgt spid="8"/>
                                        </p:tgtEl>
                                        <p:attrNameLst>
                                          <p:attrName>ppt_x</p:attrName>
                                        </p:attrNameLst>
                                      </p:cBhvr>
                                      <p:tavLst>
                                        <p:tav tm="0">
                                          <p:val>
                                            <p:strVal val="#ppt_x"/>
                                          </p:val>
                                        </p:tav>
                                        <p:tav tm="100000">
                                          <p:val>
                                            <p:strVal val="#ppt_x"/>
                                          </p:val>
                                        </p:tav>
                                      </p:tavLst>
                                    </p:anim>
                                    <p:anim calcmode="lin" valueType="num">
                                      <p:cBhvr additive="base">
                                        <p:cTn id="12" dur="4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椭圆 79"/>
          <p:cNvSpPr/>
          <p:nvPr/>
        </p:nvSpPr>
        <p:spPr>
          <a:xfrm>
            <a:off x="5275181" y="2868460"/>
            <a:ext cx="1566174" cy="3428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2496121" y="1905511"/>
            <a:ext cx="4310553" cy="34289"/>
            <a:chOff x="1172471" y="1676076"/>
            <a:chExt cx="5747404" cy="45719"/>
          </a:xfrm>
        </p:grpSpPr>
        <p:sp>
          <p:nvSpPr>
            <p:cNvPr id="98" name="椭圆 97"/>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79792" y="1939800"/>
            <a:ext cx="4310553" cy="34289"/>
            <a:chOff x="1172471" y="1676076"/>
            <a:chExt cx="5747404" cy="45719"/>
          </a:xfrm>
        </p:grpSpPr>
        <p:sp>
          <p:nvSpPr>
            <p:cNvPr id="96" name="椭圆 95"/>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TextBox 106"/>
          <p:cNvSpPr txBox="1"/>
          <p:nvPr/>
        </p:nvSpPr>
        <p:spPr>
          <a:xfrm>
            <a:off x="6566064" y="3313484"/>
            <a:ext cx="142571" cy="302086"/>
          </a:xfrm>
          <a:prstGeom prst="rect">
            <a:avLst/>
          </a:prstGeom>
          <a:noFill/>
        </p:spPr>
        <p:txBody>
          <a:bodyPr wrap="none" lIns="70564" tIns="35282" rIns="70564" bIns="35282" rtlCol="0">
            <a:spAutoFit/>
          </a:bodyPr>
          <a:lstStyle/>
          <a:p>
            <a:endParaRPr lang="zh-CN" altLang="en-US" sz="1500" b="1" dirty="0">
              <a:solidFill>
                <a:srgbClr val="E1CF9A">
                  <a:alpha val="99000"/>
                </a:srgbClr>
              </a:solidFill>
              <a:latin typeface="微软雅黑" pitchFamily="34" charset="-122"/>
              <a:ea typeface="微软雅黑" pitchFamily="34" charset="-122"/>
            </a:endParaRPr>
          </a:p>
        </p:txBody>
      </p:sp>
      <p:cxnSp>
        <p:nvCxnSpPr>
          <p:cNvPr id="53" name="直接连接符 52"/>
          <p:cNvCxnSpPr/>
          <p:nvPr/>
        </p:nvCxnSpPr>
        <p:spPr>
          <a:xfrm rot="-5400000">
            <a:off x="5239594" y="-963829"/>
            <a:ext cx="0" cy="3348000"/>
          </a:xfrm>
          <a:prstGeom prst="line">
            <a:avLst/>
          </a:prstGeom>
          <a:ln w="19050">
            <a:gradFill>
              <a:gsLst>
                <a:gs pos="50000">
                  <a:srgbClr val="E1CF9A">
                    <a:alpha val="75000"/>
                  </a:srgbClr>
                </a:gs>
                <a:gs pos="100000">
                  <a:schemeClr val="tx1">
                    <a:lumMod val="65000"/>
                    <a:lumOff val="35000"/>
                    <a:alpha val="0"/>
                  </a:schemeClr>
                </a:gs>
                <a:gs pos="0">
                  <a:schemeClr val="tx1">
                    <a:lumMod val="65000"/>
                    <a:lumOff val="35000"/>
                    <a:alpha val="0"/>
                  </a:schemeClr>
                </a:gs>
              </a:gsLst>
              <a:lin ang="5400000" scaled="0"/>
            </a:gradFill>
            <a:prstDash val="solid"/>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2582214" y="2571750"/>
            <a:ext cx="4676785" cy="418191"/>
          </a:xfrm>
          <a:prstGeom prst="rect">
            <a:avLst/>
          </a:prstGeom>
        </p:spPr>
        <p:txBody>
          <a:bodyPr wrap="square">
            <a:spAutoFit/>
          </a:bodyPr>
          <a:lstStyle/>
          <a:p>
            <a:pPr algn="just">
              <a:lnSpc>
                <a:spcPct val="150000"/>
              </a:lnSpc>
            </a:pPr>
            <a:r>
              <a:rPr lang="en-US" altLang="zh-CN" sz="1600" dirty="0">
                <a:solidFill>
                  <a:srgbClr val="E1CF9A">
                    <a:alpha val="99000"/>
                  </a:srgbClr>
                </a:solidFill>
                <a:latin typeface="微软雅黑" pitchFamily="34" charset="-122"/>
                <a:ea typeface="微软雅黑" pitchFamily="34" charset="-122"/>
              </a:rPr>
              <a:t>a derived representation of a digital image. </a:t>
            </a:r>
            <a:endParaRPr lang="zh-CN" altLang="en-US" sz="1600" dirty="0">
              <a:solidFill>
                <a:srgbClr val="E1CF9A">
                  <a:alpha val="99000"/>
                </a:srgbClr>
              </a:solidFill>
              <a:latin typeface="微软雅黑" pitchFamily="34" charset="-122"/>
              <a:ea typeface="微软雅黑" pitchFamily="34" charset="-122"/>
            </a:endParaRPr>
          </a:p>
        </p:txBody>
      </p:sp>
      <p:sp>
        <p:nvSpPr>
          <p:cNvPr id="39" name="矩形 38">
            <a:extLst>
              <a:ext uri="{FF2B5EF4-FFF2-40B4-BE49-F238E27FC236}">
                <a16:creationId xmlns:a16="http://schemas.microsoft.com/office/drawing/2014/main" id="{D2CD089C-EA4B-4C61-9E01-FF43CD703FB6}"/>
              </a:ext>
            </a:extLst>
          </p:cNvPr>
          <p:cNvSpPr/>
          <p:nvPr/>
        </p:nvSpPr>
        <p:spPr>
          <a:xfrm>
            <a:off x="3602905" y="685763"/>
            <a:ext cx="4676785" cy="418191"/>
          </a:xfrm>
          <a:prstGeom prst="rect">
            <a:avLst/>
          </a:prstGeom>
        </p:spPr>
        <p:txBody>
          <a:bodyPr wrap="square">
            <a:spAutoFit/>
          </a:bodyPr>
          <a:lstStyle/>
          <a:p>
            <a:pPr algn="just">
              <a:lnSpc>
                <a:spcPct val="150000"/>
              </a:lnSpc>
            </a:pPr>
            <a:r>
              <a:rPr lang="en-US" altLang="zh-CN" sz="1600" dirty="0">
                <a:solidFill>
                  <a:srgbClr val="E1CF9A">
                    <a:alpha val="99000"/>
                  </a:srgbClr>
                </a:solidFill>
                <a:latin typeface="微软雅黑" pitchFamily="34" charset="-122"/>
                <a:ea typeface="微软雅黑" pitchFamily="34" charset="-122"/>
              </a:rPr>
              <a:t>Distance field </a:t>
            </a:r>
            <a:endParaRPr lang="zh-CN" altLang="en-US" sz="1600" dirty="0">
              <a:solidFill>
                <a:srgbClr val="E1CF9A">
                  <a:alpha val="99000"/>
                </a:srgbClr>
              </a:solidFill>
              <a:latin typeface="微软雅黑" pitchFamily="34" charset="-122"/>
              <a:ea typeface="微软雅黑" pitchFamily="34" charset="-122"/>
            </a:endParaRPr>
          </a:p>
        </p:txBody>
      </p:sp>
    </p:spTree>
    <p:extLst>
      <p:ext uri="{BB962C8B-B14F-4D97-AF65-F5344CB8AC3E}">
        <p14:creationId xmlns:p14="http://schemas.microsoft.com/office/powerpoint/2010/main" val="194498673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1+#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25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500"/>
                                        <p:tgtEl>
                                          <p:spTgt spid="72"/>
                                        </p:tgtEl>
                                      </p:cBhvr>
                                    </p:animEffect>
                                  </p:childTnLst>
                                </p:cTn>
                              </p:par>
                              <p:par>
                                <p:cTn id="18" presetID="10" presetClass="entr" presetSubtype="0" fill="hold" nodeType="withEffect">
                                  <p:stCondLst>
                                    <p:cond delay="25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500"/>
                                        <p:tgtEl>
                                          <p:spTgt spid="80"/>
                                        </p:tgtEl>
                                      </p:cBhvr>
                                    </p:animEffect>
                                  </p:childTnLst>
                                </p:cTn>
                              </p:par>
                            </p:childTnLst>
                          </p:cTn>
                        </p:par>
                        <p:par>
                          <p:cTn id="24" fill="hold">
                            <p:stCondLst>
                              <p:cond delay="1500"/>
                            </p:stCondLst>
                            <p:childTnLst>
                              <p:par>
                                <p:cTn id="25" presetID="17" presetClass="entr" presetSubtype="1" fill="hold" grpId="0" nodeType="afterEffect" nodePh="1">
                                  <p:stCondLst>
                                    <p:cond delay="0"/>
                                  </p:stCondLst>
                                  <p:endCondLst>
                                    <p:cond evt="begin" delay="0">
                                      <p:tn val="25"/>
                                    </p:cond>
                                  </p:endCondLst>
                                  <p:iterate type="lt">
                                    <p:tmPct val="40000"/>
                                  </p:iterate>
                                  <p:childTnLst>
                                    <p:set>
                                      <p:cBhvr>
                                        <p:cTn id="26" dur="1" fill="hold">
                                          <p:stCondLst>
                                            <p:cond delay="0"/>
                                          </p:stCondLst>
                                        </p:cTn>
                                        <p:tgtEl>
                                          <p:spTgt spid="107"/>
                                        </p:tgtEl>
                                        <p:attrNameLst>
                                          <p:attrName>style.visibility</p:attrName>
                                        </p:attrNameLst>
                                      </p:cBhvr>
                                      <p:to>
                                        <p:strVal val="visible"/>
                                      </p:to>
                                    </p:set>
                                    <p:anim calcmode="lin" valueType="num">
                                      <p:cBhvr>
                                        <p:cTn id="27" dur="250" fill="hold"/>
                                        <p:tgtEl>
                                          <p:spTgt spid="107"/>
                                        </p:tgtEl>
                                        <p:attrNameLst>
                                          <p:attrName>ppt_x</p:attrName>
                                        </p:attrNameLst>
                                      </p:cBhvr>
                                      <p:tavLst>
                                        <p:tav tm="0">
                                          <p:val>
                                            <p:strVal val="#ppt_x"/>
                                          </p:val>
                                        </p:tav>
                                        <p:tav tm="100000">
                                          <p:val>
                                            <p:strVal val="#ppt_x"/>
                                          </p:val>
                                        </p:tav>
                                      </p:tavLst>
                                    </p:anim>
                                    <p:anim calcmode="lin" valueType="num">
                                      <p:cBhvr>
                                        <p:cTn id="28" dur="250" fill="hold"/>
                                        <p:tgtEl>
                                          <p:spTgt spid="107"/>
                                        </p:tgtEl>
                                        <p:attrNameLst>
                                          <p:attrName>ppt_y</p:attrName>
                                        </p:attrNameLst>
                                      </p:cBhvr>
                                      <p:tavLst>
                                        <p:tav tm="0">
                                          <p:val>
                                            <p:strVal val="#ppt_y-#ppt_h/2"/>
                                          </p:val>
                                        </p:tav>
                                        <p:tav tm="100000">
                                          <p:val>
                                            <p:strVal val="#ppt_y"/>
                                          </p:val>
                                        </p:tav>
                                      </p:tavLst>
                                    </p:anim>
                                    <p:anim calcmode="lin" valueType="num">
                                      <p:cBhvr>
                                        <p:cTn id="29" dur="250" fill="hold"/>
                                        <p:tgtEl>
                                          <p:spTgt spid="107"/>
                                        </p:tgtEl>
                                        <p:attrNameLst>
                                          <p:attrName>ppt_w</p:attrName>
                                        </p:attrNameLst>
                                      </p:cBhvr>
                                      <p:tavLst>
                                        <p:tav tm="0">
                                          <p:val>
                                            <p:strVal val="#ppt_w"/>
                                          </p:val>
                                        </p:tav>
                                        <p:tav tm="100000">
                                          <p:val>
                                            <p:strVal val="#ppt_w"/>
                                          </p:val>
                                        </p:tav>
                                      </p:tavLst>
                                    </p:anim>
                                    <p:anim calcmode="lin" valueType="num">
                                      <p:cBhvr>
                                        <p:cTn id="30" dur="250" fill="hold"/>
                                        <p:tgtEl>
                                          <p:spTgt spid="107"/>
                                        </p:tgtEl>
                                        <p:attrNameLst>
                                          <p:attrName>ppt_h</p:attrName>
                                        </p:attrNameLst>
                                      </p:cBhvr>
                                      <p:tavLst>
                                        <p:tav tm="0">
                                          <p:val>
                                            <p:fltVal val="0"/>
                                          </p:val>
                                        </p:tav>
                                        <p:tav tm="100000">
                                          <p:val>
                                            <p:strVal val="#ppt_h"/>
                                          </p:val>
                                        </p:tav>
                                      </p:tavLst>
                                    </p:anim>
                                  </p:childTnLst>
                                </p:cTn>
                              </p:par>
                            </p:childTnLst>
                          </p:cTn>
                        </p:par>
                        <p:par>
                          <p:cTn id="31" fill="hold">
                            <p:stCondLst>
                              <p:cond delay="1750"/>
                            </p:stCondLst>
                            <p:childTnLst>
                              <p:par>
                                <p:cTn id="32" presetID="42" presetClass="entr" presetSubtype="0"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1000"/>
                                        <p:tgtEl>
                                          <p:spTgt spid="39"/>
                                        </p:tgtEl>
                                      </p:cBhvr>
                                    </p:animEffect>
                                    <p:anim calcmode="lin" valueType="num">
                                      <p:cBhvr>
                                        <p:cTn id="35" dur="1000" fill="hold"/>
                                        <p:tgtEl>
                                          <p:spTgt spid="39"/>
                                        </p:tgtEl>
                                        <p:attrNameLst>
                                          <p:attrName>ppt_x</p:attrName>
                                        </p:attrNameLst>
                                      </p:cBhvr>
                                      <p:tavLst>
                                        <p:tav tm="0">
                                          <p:val>
                                            <p:strVal val="#ppt_x"/>
                                          </p:val>
                                        </p:tav>
                                        <p:tav tm="100000">
                                          <p:val>
                                            <p:strVal val="#ppt_x"/>
                                          </p:val>
                                        </p:tav>
                                      </p:tavLst>
                                    </p:anim>
                                    <p:anim calcmode="lin" valueType="num">
                                      <p:cBhvr>
                                        <p:cTn id="3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107" grpId="0"/>
      <p:bldP spid="54" grpId="0"/>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椭圆 79"/>
          <p:cNvSpPr/>
          <p:nvPr/>
        </p:nvSpPr>
        <p:spPr>
          <a:xfrm>
            <a:off x="5275181" y="2868460"/>
            <a:ext cx="1566174" cy="3428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2496121" y="1905511"/>
            <a:ext cx="4310553" cy="34289"/>
            <a:chOff x="1172471" y="1676076"/>
            <a:chExt cx="5747404" cy="45719"/>
          </a:xfrm>
        </p:grpSpPr>
        <p:sp>
          <p:nvSpPr>
            <p:cNvPr id="98" name="椭圆 97"/>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79792" y="1939800"/>
            <a:ext cx="4310553" cy="34289"/>
            <a:chOff x="1172471" y="1676076"/>
            <a:chExt cx="5747404" cy="45719"/>
          </a:xfrm>
        </p:grpSpPr>
        <p:sp>
          <p:nvSpPr>
            <p:cNvPr id="96" name="椭圆 95"/>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TextBox 106"/>
          <p:cNvSpPr txBox="1"/>
          <p:nvPr/>
        </p:nvSpPr>
        <p:spPr>
          <a:xfrm>
            <a:off x="6566064" y="3313484"/>
            <a:ext cx="142571" cy="302086"/>
          </a:xfrm>
          <a:prstGeom prst="rect">
            <a:avLst/>
          </a:prstGeom>
          <a:noFill/>
        </p:spPr>
        <p:txBody>
          <a:bodyPr wrap="none" lIns="70564" tIns="35282" rIns="70564" bIns="35282" rtlCol="0">
            <a:spAutoFit/>
          </a:bodyPr>
          <a:lstStyle/>
          <a:p>
            <a:endParaRPr lang="zh-CN" altLang="en-US" sz="1500" b="1" dirty="0">
              <a:solidFill>
                <a:srgbClr val="E1CF9A">
                  <a:alpha val="99000"/>
                </a:srgbClr>
              </a:solidFill>
              <a:latin typeface="微软雅黑" pitchFamily="34" charset="-122"/>
              <a:ea typeface="微软雅黑" pitchFamily="34" charset="-122"/>
            </a:endParaRPr>
          </a:p>
        </p:txBody>
      </p:sp>
      <p:cxnSp>
        <p:nvCxnSpPr>
          <p:cNvPr id="53" name="直接连接符 52"/>
          <p:cNvCxnSpPr/>
          <p:nvPr/>
        </p:nvCxnSpPr>
        <p:spPr>
          <a:xfrm rot="-5400000">
            <a:off x="5239594" y="-963829"/>
            <a:ext cx="0" cy="3348000"/>
          </a:xfrm>
          <a:prstGeom prst="line">
            <a:avLst/>
          </a:prstGeom>
          <a:ln w="19050">
            <a:gradFill>
              <a:gsLst>
                <a:gs pos="50000">
                  <a:srgbClr val="E1CF9A">
                    <a:alpha val="75000"/>
                  </a:srgbClr>
                </a:gs>
                <a:gs pos="100000">
                  <a:schemeClr val="tx1">
                    <a:lumMod val="65000"/>
                    <a:lumOff val="35000"/>
                    <a:alpha val="0"/>
                  </a:schemeClr>
                </a:gs>
                <a:gs pos="0">
                  <a:schemeClr val="tx1">
                    <a:lumMod val="65000"/>
                    <a:lumOff val="35000"/>
                    <a:alpha val="0"/>
                  </a:schemeClr>
                </a:gs>
              </a:gsLst>
              <a:lin ang="5400000" scaled="0"/>
            </a:gradFill>
            <a:prstDash val="solid"/>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1217054" y="2440607"/>
            <a:ext cx="7477940" cy="1526187"/>
          </a:xfrm>
          <a:prstGeom prst="rect">
            <a:avLst/>
          </a:prstGeom>
        </p:spPr>
        <p:txBody>
          <a:bodyPr wrap="square">
            <a:spAutoFit/>
          </a:bodyPr>
          <a:lstStyle/>
          <a:p>
            <a:pPr algn="just">
              <a:lnSpc>
                <a:spcPct val="150000"/>
              </a:lnSpc>
            </a:pPr>
            <a:r>
              <a:rPr lang="zh-CN" altLang="en-US" sz="1600" dirty="0">
                <a:solidFill>
                  <a:srgbClr val="E1CF9A">
                    <a:alpha val="99000"/>
                  </a:srgbClr>
                </a:solidFill>
                <a:latin typeface="微软雅黑" pitchFamily="34" charset="-122"/>
                <a:ea typeface="微软雅黑" pitchFamily="34" charset="-122"/>
              </a:rPr>
              <a:t>图像阈值化的一般目的是从灰度图像中分享目标区域和背景区域，然而仅仅通过设定固定阈值</a:t>
            </a:r>
            <a:r>
              <a:rPr lang="en-US" altLang="zh-CN" sz="1600" dirty="0">
                <a:solidFill>
                  <a:srgbClr val="E1CF9A">
                    <a:alpha val="99000"/>
                  </a:srgbClr>
                </a:solidFill>
                <a:latin typeface="微软雅黑" pitchFamily="34" charset="-122"/>
                <a:ea typeface="微软雅黑" pitchFamily="34" charset="-122"/>
              </a:rPr>
              <a:t>(</a:t>
            </a:r>
            <a:r>
              <a:rPr lang="zh-CN" altLang="en-US" sz="1600" dirty="0">
                <a:solidFill>
                  <a:srgbClr val="E1CF9A">
                    <a:alpha val="99000"/>
                  </a:srgbClr>
                </a:solidFill>
                <a:latin typeface="微软雅黑" pitchFamily="34" charset="-122"/>
                <a:ea typeface="微软雅黑" pitchFamily="34" charset="-122"/>
              </a:rPr>
              <a:t>固定阈值的求解可点此查看我写的博文</a:t>
            </a:r>
            <a:r>
              <a:rPr lang="en-US" altLang="zh-CN" sz="1600" dirty="0">
                <a:solidFill>
                  <a:srgbClr val="E1CF9A">
                    <a:alpha val="99000"/>
                  </a:srgbClr>
                </a:solidFill>
                <a:latin typeface="微软雅黑" pitchFamily="34" charset="-122"/>
                <a:ea typeface="微软雅黑" pitchFamily="34" charset="-122"/>
              </a:rPr>
              <a:t>)</a:t>
            </a:r>
            <a:r>
              <a:rPr lang="zh-CN" altLang="en-US" sz="1600" dirty="0">
                <a:solidFill>
                  <a:srgbClr val="E1CF9A">
                    <a:alpha val="99000"/>
                  </a:srgbClr>
                </a:solidFill>
                <a:latin typeface="微软雅黑" pitchFamily="34" charset="-122"/>
                <a:ea typeface="微软雅黑" pitchFamily="34" charset="-122"/>
              </a:rPr>
              <a:t>很难达到理想的分割效果。在实际应用中，我们可以通过某个像素的邻域以某种方法确定这个像素应该具有的阈值，进而保证图像中各个像素的阈值会随着周期围邻域块的变化而变化。</a:t>
            </a:r>
          </a:p>
        </p:txBody>
      </p:sp>
      <p:sp>
        <p:nvSpPr>
          <p:cNvPr id="39" name="矩形 38">
            <a:extLst>
              <a:ext uri="{FF2B5EF4-FFF2-40B4-BE49-F238E27FC236}">
                <a16:creationId xmlns:a16="http://schemas.microsoft.com/office/drawing/2014/main" id="{D2CD089C-EA4B-4C61-9E01-FF43CD703FB6}"/>
              </a:ext>
            </a:extLst>
          </p:cNvPr>
          <p:cNvSpPr/>
          <p:nvPr/>
        </p:nvSpPr>
        <p:spPr>
          <a:xfrm>
            <a:off x="3493435" y="680555"/>
            <a:ext cx="4676785" cy="418191"/>
          </a:xfrm>
          <a:prstGeom prst="rect">
            <a:avLst/>
          </a:prstGeom>
        </p:spPr>
        <p:txBody>
          <a:bodyPr wrap="square">
            <a:spAutoFit/>
          </a:bodyPr>
          <a:lstStyle/>
          <a:p>
            <a:pPr algn="just">
              <a:lnSpc>
                <a:spcPct val="150000"/>
              </a:lnSpc>
            </a:pPr>
            <a:r>
              <a:rPr lang="en-US" altLang="zh-CN" sz="1600" dirty="0">
                <a:solidFill>
                  <a:srgbClr val="E1CF9A">
                    <a:alpha val="99000"/>
                  </a:srgbClr>
                </a:solidFill>
                <a:latin typeface="微软雅黑" pitchFamily="34" charset="-122"/>
                <a:ea typeface="微软雅黑" pitchFamily="34" charset="-122"/>
              </a:rPr>
              <a:t>Adaptive threshold</a:t>
            </a:r>
            <a:endParaRPr lang="zh-CN" altLang="en-US" sz="1600" dirty="0">
              <a:solidFill>
                <a:srgbClr val="E1CF9A">
                  <a:alpha val="99000"/>
                </a:srgbClr>
              </a:solidFill>
              <a:latin typeface="微软雅黑" pitchFamily="34" charset="-122"/>
              <a:ea typeface="微软雅黑" pitchFamily="34" charset="-122"/>
            </a:endParaRPr>
          </a:p>
        </p:txBody>
      </p:sp>
    </p:spTree>
    <p:extLst>
      <p:ext uri="{BB962C8B-B14F-4D97-AF65-F5344CB8AC3E}">
        <p14:creationId xmlns:p14="http://schemas.microsoft.com/office/powerpoint/2010/main" val="3847403553"/>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1+#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25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500"/>
                                        <p:tgtEl>
                                          <p:spTgt spid="72"/>
                                        </p:tgtEl>
                                      </p:cBhvr>
                                    </p:animEffect>
                                  </p:childTnLst>
                                </p:cTn>
                              </p:par>
                              <p:par>
                                <p:cTn id="18" presetID="10" presetClass="entr" presetSubtype="0" fill="hold" nodeType="withEffect">
                                  <p:stCondLst>
                                    <p:cond delay="25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500"/>
                                        <p:tgtEl>
                                          <p:spTgt spid="80"/>
                                        </p:tgtEl>
                                      </p:cBhvr>
                                    </p:animEffect>
                                  </p:childTnLst>
                                </p:cTn>
                              </p:par>
                            </p:childTnLst>
                          </p:cTn>
                        </p:par>
                        <p:par>
                          <p:cTn id="24" fill="hold">
                            <p:stCondLst>
                              <p:cond delay="1500"/>
                            </p:stCondLst>
                            <p:childTnLst>
                              <p:par>
                                <p:cTn id="25" presetID="17" presetClass="entr" presetSubtype="1" fill="hold" grpId="0" nodeType="afterEffect" nodePh="1">
                                  <p:stCondLst>
                                    <p:cond delay="0"/>
                                  </p:stCondLst>
                                  <p:endCondLst>
                                    <p:cond evt="begin" delay="0">
                                      <p:tn val="25"/>
                                    </p:cond>
                                  </p:endCondLst>
                                  <p:iterate type="lt">
                                    <p:tmPct val="40000"/>
                                  </p:iterate>
                                  <p:childTnLst>
                                    <p:set>
                                      <p:cBhvr>
                                        <p:cTn id="26" dur="1" fill="hold">
                                          <p:stCondLst>
                                            <p:cond delay="0"/>
                                          </p:stCondLst>
                                        </p:cTn>
                                        <p:tgtEl>
                                          <p:spTgt spid="107"/>
                                        </p:tgtEl>
                                        <p:attrNameLst>
                                          <p:attrName>style.visibility</p:attrName>
                                        </p:attrNameLst>
                                      </p:cBhvr>
                                      <p:to>
                                        <p:strVal val="visible"/>
                                      </p:to>
                                    </p:set>
                                    <p:anim calcmode="lin" valueType="num">
                                      <p:cBhvr>
                                        <p:cTn id="27" dur="250" fill="hold"/>
                                        <p:tgtEl>
                                          <p:spTgt spid="107"/>
                                        </p:tgtEl>
                                        <p:attrNameLst>
                                          <p:attrName>ppt_x</p:attrName>
                                        </p:attrNameLst>
                                      </p:cBhvr>
                                      <p:tavLst>
                                        <p:tav tm="0">
                                          <p:val>
                                            <p:strVal val="#ppt_x"/>
                                          </p:val>
                                        </p:tav>
                                        <p:tav tm="100000">
                                          <p:val>
                                            <p:strVal val="#ppt_x"/>
                                          </p:val>
                                        </p:tav>
                                      </p:tavLst>
                                    </p:anim>
                                    <p:anim calcmode="lin" valueType="num">
                                      <p:cBhvr>
                                        <p:cTn id="28" dur="250" fill="hold"/>
                                        <p:tgtEl>
                                          <p:spTgt spid="107"/>
                                        </p:tgtEl>
                                        <p:attrNameLst>
                                          <p:attrName>ppt_y</p:attrName>
                                        </p:attrNameLst>
                                      </p:cBhvr>
                                      <p:tavLst>
                                        <p:tav tm="0">
                                          <p:val>
                                            <p:strVal val="#ppt_y-#ppt_h/2"/>
                                          </p:val>
                                        </p:tav>
                                        <p:tav tm="100000">
                                          <p:val>
                                            <p:strVal val="#ppt_y"/>
                                          </p:val>
                                        </p:tav>
                                      </p:tavLst>
                                    </p:anim>
                                    <p:anim calcmode="lin" valueType="num">
                                      <p:cBhvr>
                                        <p:cTn id="29" dur="250" fill="hold"/>
                                        <p:tgtEl>
                                          <p:spTgt spid="107"/>
                                        </p:tgtEl>
                                        <p:attrNameLst>
                                          <p:attrName>ppt_w</p:attrName>
                                        </p:attrNameLst>
                                      </p:cBhvr>
                                      <p:tavLst>
                                        <p:tav tm="0">
                                          <p:val>
                                            <p:strVal val="#ppt_w"/>
                                          </p:val>
                                        </p:tav>
                                        <p:tav tm="100000">
                                          <p:val>
                                            <p:strVal val="#ppt_w"/>
                                          </p:val>
                                        </p:tav>
                                      </p:tavLst>
                                    </p:anim>
                                    <p:anim calcmode="lin" valueType="num">
                                      <p:cBhvr>
                                        <p:cTn id="30" dur="250" fill="hold"/>
                                        <p:tgtEl>
                                          <p:spTgt spid="107"/>
                                        </p:tgtEl>
                                        <p:attrNameLst>
                                          <p:attrName>ppt_h</p:attrName>
                                        </p:attrNameLst>
                                      </p:cBhvr>
                                      <p:tavLst>
                                        <p:tav tm="0">
                                          <p:val>
                                            <p:fltVal val="0"/>
                                          </p:val>
                                        </p:tav>
                                        <p:tav tm="100000">
                                          <p:val>
                                            <p:strVal val="#ppt_h"/>
                                          </p:val>
                                        </p:tav>
                                      </p:tavLst>
                                    </p:anim>
                                  </p:childTnLst>
                                </p:cTn>
                              </p:par>
                            </p:childTnLst>
                          </p:cTn>
                        </p:par>
                        <p:par>
                          <p:cTn id="31" fill="hold">
                            <p:stCondLst>
                              <p:cond delay="1750"/>
                            </p:stCondLst>
                            <p:childTnLst>
                              <p:par>
                                <p:cTn id="32" presetID="42" presetClass="entr" presetSubtype="0"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1000"/>
                                        <p:tgtEl>
                                          <p:spTgt spid="39"/>
                                        </p:tgtEl>
                                      </p:cBhvr>
                                    </p:animEffect>
                                    <p:anim calcmode="lin" valueType="num">
                                      <p:cBhvr>
                                        <p:cTn id="35" dur="1000" fill="hold"/>
                                        <p:tgtEl>
                                          <p:spTgt spid="39"/>
                                        </p:tgtEl>
                                        <p:attrNameLst>
                                          <p:attrName>ppt_x</p:attrName>
                                        </p:attrNameLst>
                                      </p:cBhvr>
                                      <p:tavLst>
                                        <p:tav tm="0">
                                          <p:val>
                                            <p:strVal val="#ppt_x"/>
                                          </p:val>
                                        </p:tav>
                                        <p:tav tm="100000">
                                          <p:val>
                                            <p:strVal val="#ppt_x"/>
                                          </p:val>
                                        </p:tav>
                                      </p:tavLst>
                                    </p:anim>
                                    <p:anim calcmode="lin" valueType="num">
                                      <p:cBhvr>
                                        <p:cTn id="3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107" grpId="0"/>
      <p:bldP spid="54"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椭圆 79"/>
          <p:cNvSpPr/>
          <p:nvPr/>
        </p:nvSpPr>
        <p:spPr>
          <a:xfrm>
            <a:off x="5275181" y="2868460"/>
            <a:ext cx="1566174" cy="3428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2496121" y="1905511"/>
            <a:ext cx="4310553" cy="34289"/>
            <a:chOff x="1172471" y="1676076"/>
            <a:chExt cx="5747404" cy="45719"/>
          </a:xfrm>
        </p:grpSpPr>
        <p:sp>
          <p:nvSpPr>
            <p:cNvPr id="98" name="椭圆 97"/>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79792" y="1939800"/>
            <a:ext cx="4310553" cy="34289"/>
            <a:chOff x="1172471" y="1676076"/>
            <a:chExt cx="5747404" cy="45719"/>
          </a:xfrm>
        </p:grpSpPr>
        <p:sp>
          <p:nvSpPr>
            <p:cNvPr id="96" name="椭圆 95"/>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TextBox 106"/>
          <p:cNvSpPr txBox="1"/>
          <p:nvPr/>
        </p:nvSpPr>
        <p:spPr>
          <a:xfrm>
            <a:off x="6566064" y="3313484"/>
            <a:ext cx="142571" cy="302086"/>
          </a:xfrm>
          <a:prstGeom prst="rect">
            <a:avLst/>
          </a:prstGeom>
          <a:noFill/>
        </p:spPr>
        <p:txBody>
          <a:bodyPr wrap="none" lIns="70564" tIns="35282" rIns="70564" bIns="35282" rtlCol="0">
            <a:spAutoFit/>
          </a:bodyPr>
          <a:lstStyle/>
          <a:p>
            <a:endParaRPr lang="zh-CN" altLang="en-US" sz="1500" b="1" dirty="0">
              <a:solidFill>
                <a:srgbClr val="E1CF9A">
                  <a:alpha val="99000"/>
                </a:srgbClr>
              </a:solidFill>
              <a:latin typeface="微软雅黑" pitchFamily="34" charset="-122"/>
              <a:ea typeface="微软雅黑" pitchFamily="34" charset="-122"/>
            </a:endParaRPr>
          </a:p>
        </p:txBody>
      </p:sp>
      <p:cxnSp>
        <p:nvCxnSpPr>
          <p:cNvPr id="53" name="直接连接符 52"/>
          <p:cNvCxnSpPr/>
          <p:nvPr/>
        </p:nvCxnSpPr>
        <p:spPr>
          <a:xfrm rot="-5400000">
            <a:off x="5239594" y="-963829"/>
            <a:ext cx="0" cy="3348000"/>
          </a:xfrm>
          <a:prstGeom prst="line">
            <a:avLst/>
          </a:prstGeom>
          <a:ln w="19050">
            <a:gradFill>
              <a:gsLst>
                <a:gs pos="50000">
                  <a:srgbClr val="E1CF9A">
                    <a:alpha val="75000"/>
                  </a:srgbClr>
                </a:gs>
                <a:gs pos="100000">
                  <a:schemeClr val="tx1">
                    <a:lumMod val="65000"/>
                    <a:lumOff val="35000"/>
                    <a:alpha val="0"/>
                  </a:schemeClr>
                </a:gs>
                <a:gs pos="0">
                  <a:schemeClr val="tx1">
                    <a:lumMod val="65000"/>
                    <a:lumOff val="35000"/>
                    <a:alpha val="0"/>
                  </a:schemeClr>
                </a:gs>
              </a:gsLst>
              <a:lin ang="5400000" scaled="0"/>
            </a:gradFill>
            <a:prstDash val="solid"/>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1223493" y="1905511"/>
            <a:ext cx="7477940" cy="2264851"/>
          </a:xfrm>
          <a:prstGeom prst="rect">
            <a:avLst/>
          </a:prstGeom>
        </p:spPr>
        <p:txBody>
          <a:bodyPr wrap="square">
            <a:spAutoFit/>
          </a:bodyPr>
          <a:lstStyle/>
          <a:p>
            <a:pPr algn="just">
              <a:lnSpc>
                <a:spcPct val="150000"/>
              </a:lnSpc>
            </a:pPr>
            <a:r>
              <a:rPr lang="en-US" altLang="zh-CN" sz="1600" dirty="0">
                <a:solidFill>
                  <a:srgbClr val="E1CF9A">
                    <a:alpha val="99000"/>
                  </a:srgbClr>
                </a:solidFill>
                <a:latin typeface="微软雅黑" pitchFamily="34" charset="-122"/>
                <a:ea typeface="微软雅黑" pitchFamily="34" charset="-122"/>
              </a:rPr>
              <a:t>In the study of image processing, a watershed is a transformation defined on a grayscale image. The name refers metaphorically to a geological watershed, or drainage divide, which separates adjacent drainage basins. The watershed transformation treats the image it operates upon like a topographic map, with the brightness of each point representing its height, and finds the lines that run along the tops of ridges.</a:t>
            </a:r>
            <a:endParaRPr lang="zh-CN" altLang="en-US" sz="1600" dirty="0">
              <a:solidFill>
                <a:srgbClr val="E1CF9A">
                  <a:alpha val="99000"/>
                </a:srgbClr>
              </a:solidFill>
              <a:latin typeface="微软雅黑" pitchFamily="34" charset="-122"/>
              <a:ea typeface="微软雅黑" pitchFamily="34" charset="-122"/>
            </a:endParaRPr>
          </a:p>
        </p:txBody>
      </p:sp>
      <p:sp>
        <p:nvSpPr>
          <p:cNvPr id="39" name="矩形 38">
            <a:extLst>
              <a:ext uri="{FF2B5EF4-FFF2-40B4-BE49-F238E27FC236}">
                <a16:creationId xmlns:a16="http://schemas.microsoft.com/office/drawing/2014/main" id="{D2CD089C-EA4B-4C61-9E01-FF43CD703FB6}"/>
              </a:ext>
            </a:extLst>
          </p:cNvPr>
          <p:cNvSpPr/>
          <p:nvPr/>
        </p:nvSpPr>
        <p:spPr>
          <a:xfrm>
            <a:off x="2791536" y="758499"/>
            <a:ext cx="4676785" cy="418191"/>
          </a:xfrm>
          <a:prstGeom prst="rect">
            <a:avLst/>
          </a:prstGeom>
        </p:spPr>
        <p:txBody>
          <a:bodyPr wrap="square">
            <a:spAutoFit/>
          </a:bodyPr>
          <a:lstStyle/>
          <a:p>
            <a:pPr algn="just">
              <a:lnSpc>
                <a:spcPct val="150000"/>
              </a:lnSpc>
            </a:pPr>
            <a:r>
              <a:rPr lang="en-US" altLang="zh-CN" sz="1600" dirty="0">
                <a:solidFill>
                  <a:srgbClr val="E1CF9A">
                    <a:alpha val="99000"/>
                  </a:srgbClr>
                </a:solidFill>
                <a:latin typeface="微软雅黑" pitchFamily="34" charset="-122"/>
                <a:ea typeface="微软雅黑" pitchFamily="34" charset="-122"/>
              </a:rPr>
              <a:t>Segment-------Watershed Algorithm</a:t>
            </a:r>
            <a:endParaRPr lang="zh-CN" altLang="en-US" sz="1600" dirty="0">
              <a:solidFill>
                <a:srgbClr val="E1CF9A">
                  <a:alpha val="99000"/>
                </a:srgbClr>
              </a:solidFill>
              <a:latin typeface="微软雅黑" pitchFamily="34" charset="-122"/>
              <a:ea typeface="微软雅黑" pitchFamily="34" charset="-122"/>
            </a:endParaRPr>
          </a:p>
        </p:txBody>
      </p:sp>
    </p:spTree>
    <p:extLst>
      <p:ext uri="{BB962C8B-B14F-4D97-AF65-F5344CB8AC3E}">
        <p14:creationId xmlns:p14="http://schemas.microsoft.com/office/powerpoint/2010/main" val="413112861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1+#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25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500"/>
                                        <p:tgtEl>
                                          <p:spTgt spid="72"/>
                                        </p:tgtEl>
                                      </p:cBhvr>
                                    </p:animEffect>
                                  </p:childTnLst>
                                </p:cTn>
                              </p:par>
                              <p:par>
                                <p:cTn id="18" presetID="10" presetClass="entr" presetSubtype="0" fill="hold" nodeType="withEffect">
                                  <p:stCondLst>
                                    <p:cond delay="25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500"/>
                                        <p:tgtEl>
                                          <p:spTgt spid="80"/>
                                        </p:tgtEl>
                                      </p:cBhvr>
                                    </p:animEffect>
                                  </p:childTnLst>
                                </p:cTn>
                              </p:par>
                            </p:childTnLst>
                          </p:cTn>
                        </p:par>
                        <p:par>
                          <p:cTn id="24" fill="hold">
                            <p:stCondLst>
                              <p:cond delay="1500"/>
                            </p:stCondLst>
                            <p:childTnLst>
                              <p:par>
                                <p:cTn id="25" presetID="17" presetClass="entr" presetSubtype="1" fill="hold" grpId="0" nodeType="afterEffect" nodePh="1">
                                  <p:stCondLst>
                                    <p:cond delay="0"/>
                                  </p:stCondLst>
                                  <p:endCondLst>
                                    <p:cond evt="begin" delay="0">
                                      <p:tn val="25"/>
                                    </p:cond>
                                  </p:endCondLst>
                                  <p:iterate type="lt">
                                    <p:tmPct val="40000"/>
                                  </p:iterate>
                                  <p:childTnLst>
                                    <p:set>
                                      <p:cBhvr>
                                        <p:cTn id="26" dur="1" fill="hold">
                                          <p:stCondLst>
                                            <p:cond delay="0"/>
                                          </p:stCondLst>
                                        </p:cTn>
                                        <p:tgtEl>
                                          <p:spTgt spid="107"/>
                                        </p:tgtEl>
                                        <p:attrNameLst>
                                          <p:attrName>style.visibility</p:attrName>
                                        </p:attrNameLst>
                                      </p:cBhvr>
                                      <p:to>
                                        <p:strVal val="visible"/>
                                      </p:to>
                                    </p:set>
                                    <p:anim calcmode="lin" valueType="num">
                                      <p:cBhvr>
                                        <p:cTn id="27" dur="250" fill="hold"/>
                                        <p:tgtEl>
                                          <p:spTgt spid="107"/>
                                        </p:tgtEl>
                                        <p:attrNameLst>
                                          <p:attrName>ppt_x</p:attrName>
                                        </p:attrNameLst>
                                      </p:cBhvr>
                                      <p:tavLst>
                                        <p:tav tm="0">
                                          <p:val>
                                            <p:strVal val="#ppt_x"/>
                                          </p:val>
                                        </p:tav>
                                        <p:tav tm="100000">
                                          <p:val>
                                            <p:strVal val="#ppt_x"/>
                                          </p:val>
                                        </p:tav>
                                      </p:tavLst>
                                    </p:anim>
                                    <p:anim calcmode="lin" valueType="num">
                                      <p:cBhvr>
                                        <p:cTn id="28" dur="250" fill="hold"/>
                                        <p:tgtEl>
                                          <p:spTgt spid="107"/>
                                        </p:tgtEl>
                                        <p:attrNameLst>
                                          <p:attrName>ppt_y</p:attrName>
                                        </p:attrNameLst>
                                      </p:cBhvr>
                                      <p:tavLst>
                                        <p:tav tm="0">
                                          <p:val>
                                            <p:strVal val="#ppt_y-#ppt_h/2"/>
                                          </p:val>
                                        </p:tav>
                                        <p:tav tm="100000">
                                          <p:val>
                                            <p:strVal val="#ppt_y"/>
                                          </p:val>
                                        </p:tav>
                                      </p:tavLst>
                                    </p:anim>
                                    <p:anim calcmode="lin" valueType="num">
                                      <p:cBhvr>
                                        <p:cTn id="29" dur="250" fill="hold"/>
                                        <p:tgtEl>
                                          <p:spTgt spid="107"/>
                                        </p:tgtEl>
                                        <p:attrNameLst>
                                          <p:attrName>ppt_w</p:attrName>
                                        </p:attrNameLst>
                                      </p:cBhvr>
                                      <p:tavLst>
                                        <p:tav tm="0">
                                          <p:val>
                                            <p:strVal val="#ppt_w"/>
                                          </p:val>
                                        </p:tav>
                                        <p:tav tm="100000">
                                          <p:val>
                                            <p:strVal val="#ppt_w"/>
                                          </p:val>
                                        </p:tav>
                                      </p:tavLst>
                                    </p:anim>
                                    <p:anim calcmode="lin" valueType="num">
                                      <p:cBhvr>
                                        <p:cTn id="30" dur="250" fill="hold"/>
                                        <p:tgtEl>
                                          <p:spTgt spid="107"/>
                                        </p:tgtEl>
                                        <p:attrNameLst>
                                          <p:attrName>ppt_h</p:attrName>
                                        </p:attrNameLst>
                                      </p:cBhvr>
                                      <p:tavLst>
                                        <p:tav tm="0">
                                          <p:val>
                                            <p:fltVal val="0"/>
                                          </p:val>
                                        </p:tav>
                                        <p:tav tm="100000">
                                          <p:val>
                                            <p:strVal val="#ppt_h"/>
                                          </p:val>
                                        </p:tav>
                                      </p:tavLst>
                                    </p:anim>
                                  </p:childTnLst>
                                </p:cTn>
                              </p:par>
                            </p:childTnLst>
                          </p:cTn>
                        </p:par>
                        <p:par>
                          <p:cTn id="31" fill="hold">
                            <p:stCondLst>
                              <p:cond delay="1750"/>
                            </p:stCondLst>
                            <p:childTnLst>
                              <p:par>
                                <p:cTn id="32" presetID="42" presetClass="entr" presetSubtype="0"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1000"/>
                                        <p:tgtEl>
                                          <p:spTgt spid="39"/>
                                        </p:tgtEl>
                                      </p:cBhvr>
                                    </p:animEffect>
                                    <p:anim calcmode="lin" valueType="num">
                                      <p:cBhvr>
                                        <p:cTn id="35" dur="1000" fill="hold"/>
                                        <p:tgtEl>
                                          <p:spTgt spid="39"/>
                                        </p:tgtEl>
                                        <p:attrNameLst>
                                          <p:attrName>ppt_x</p:attrName>
                                        </p:attrNameLst>
                                      </p:cBhvr>
                                      <p:tavLst>
                                        <p:tav tm="0">
                                          <p:val>
                                            <p:strVal val="#ppt_x"/>
                                          </p:val>
                                        </p:tav>
                                        <p:tav tm="100000">
                                          <p:val>
                                            <p:strVal val="#ppt_x"/>
                                          </p:val>
                                        </p:tav>
                                      </p:tavLst>
                                    </p:anim>
                                    <p:anim calcmode="lin" valueType="num">
                                      <p:cBhvr>
                                        <p:cTn id="3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107" grpId="0"/>
      <p:bldP spid="54" grpId="0"/>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椭圆 79"/>
          <p:cNvSpPr/>
          <p:nvPr/>
        </p:nvSpPr>
        <p:spPr>
          <a:xfrm>
            <a:off x="5275181" y="2868460"/>
            <a:ext cx="1566174" cy="3428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2496121" y="1905511"/>
            <a:ext cx="4310553" cy="34289"/>
            <a:chOff x="1172471" y="1676076"/>
            <a:chExt cx="5747404" cy="45719"/>
          </a:xfrm>
        </p:grpSpPr>
        <p:sp>
          <p:nvSpPr>
            <p:cNvPr id="98" name="椭圆 97"/>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79792" y="1939800"/>
            <a:ext cx="4310553" cy="34289"/>
            <a:chOff x="1172471" y="1676076"/>
            <a:chExt cx="5747404" cy="45719"/>
          </a:xfrm>
        </p:grpSpPr>
        <p:sp>
          <p:nvSpPr>
            <p:cNvPr id="96" name="椭圆 95"/>
            <p:cNvSpPr/>
            <p:nvPr/>
          </p:nvSpPr>
          <p:spPr>
            <a:xfrm>
              <a:off x="4024402"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1172471" y="1676076"/>
              <a:ext cx="2895473" cy="45719"/>
            </a:xfrm>
            <a:prstGeom prst="ellipse">
              <a:avLst/>
            </a:prstGeom>
            <a:gradFill>
              <a:gsLst>
                <a:gs pos="100000">
                  <a:schemeClr val="bg1">
                    <a:lumMod val="75000"/>
                    <a:alpha val="17000"/>
                  </a:schemeClr>
                </a:gs>
                <a:gs pos="24000">
                  <a:schemeClr val="bg1">
                    <a:lumMod val="95000"/>
                    <a:alpha val="0"/>
                  </a:schemeClr>
                </a:gs>
              </a:gsLst>
              <a:lin ang="5400000" scaled="1"/>
            </a:gra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TextBox 106"/>
          <p:cNvSpPr txBox="1"/>
          <p:nvPr/>
        </p:nvSpPr>
        <p:spPr>
          <a:xfrm>
            <a:off x="6566064" y="3313484"/>
            <a:ext cx="142571" cy="302086"/>
          </a:xfrm>
          <a:prstGeom prst="rect">
            <a:avLst/>
          </a:prstGeom>
          <a:noFill/>
        </p:spPr>
        <p:txBody>
          <a:bodyPr wrap="none" lIns="70564" tIns="35282" rIns="70564" bIns="35282" rtlCol="0">
            <a:spAutoFit/>
          </a:bodyPr>
          <a:lstStyle/>
          <a:p>
            <a:endParaRPr lang="zh-CN" altLang="en-US" sz="1500" b="1" dirty="0">
              <a:solidFill>
                <a:srgbClr val="E1CF9A">
                  <a:alpha val="99000"/>
                </a:srgbClr>
              </a:solidFill>
              <a:latin typeface="微软雅黑" pitchFamily="34" charset="-122"/>
              <a:ea typeface="微软雅黑" pitchFamily="34" charset="-122"/>
            </a:endParaRPr>
          </a:p>
        </p:txBody>
      </p:sp>
      <p:cxnSp>
        <p:nvCxnSpPr>
          <p:cNvPr id="53" name="直接连接符 52"/>
          <p:cNvCxnSpPr/>
          <p:nvPr/>
        </p:nvCxnSpPr>
        <p:spPr>
          <a:xfrm rot="-5400000">
            <a:off x="5239594" y="-963829"/>
            <a:ext cx="0" cy="3348000"/>
          </a:xfrm>
          <a:prstGeom prst="line">
            <a:avLst/>
          </a:prstGeom>
          <a:ln w="19050">
            <a:gradFill>
              <a:gsLst>
                <a:gs pos="50000">
                  <a:srgbClr val="E1CF9A">
                    <a:alpha val="75000"/>
                  </a:srgbClr>
                </a:gs>
                <a:gs pos="100000">
                  <a:schemeClr val="tx1">
                    <a:lumMod val="65000"/>
                    <a:lumOff val="35000"/>
                    <a:alpha val="0"/>
                  </a:schemeClr>
                </a:gs>
                <a:gs pos="0">
                  <a:schemeClr val="tx1">
                    <a:lumMod val="65000"/>
                    <a:lumOff val="35000"/>
                    <a:alpha val="0"/>
                  </a:schemeClr>
                </a:gs>
              </a:gsLst>
              <a:lin ang="5400000" scaled="0"/>
            </a:gradFill>
            <a:prstDash val="solid"/>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2041302" y="2065944"/>
            <a:ext cx="7477940" cy="787523"/>
          </a:xfrm>
          <a:prstGeom prst="rect">
            <a:avLst/>
          </a:prstGeom>
        </p:spPr>
        <p:txBody>
          <a:bodyPr wrap="square">
            <a:spAutoFit/>
          </a:bodyPr>
          <a:lstStyle/>
          <a:p>
            <a:pPr algn="just">
              <a:lnSpc>
                <a:spcPct val="150000"/>
              </a:lnSpc>
            </a:pPr>
            <a:r>
              <a:rPr lang="zh-CN" altLang="en-US" sz="1600" dirty="0">
                <a:solidFill>
                  <a:srgbClr val="E1CF9A">
                    <a:alpha val="99000"/>
                  </a:srgbClr>
                </a:solidFill>
                <a:latin typeface="微软雅黑" pitchFamily="34" charset="-122"/>
                <a:ea typeface="微软雅黑" pitchFamily="34" charset="-122"/>
              </a:rPr>
              <a:t>后续再添加一些自己实现了的有趣的图像处理算法</a:t>
            </a:r>
            <a:endParaRPr lang="en-US" altLang="zh-CN" sz="1600" dirty="0">
              <a:solidFill>
                <a:srgbClr val="E1CF9A">
                  <a:alpha val="99000"/>
                </a:srgbClr>
              </a:solidFill>
              <a:latin typeface="微软雅黑" pitchFamily="34" charset="-122"/>
              <a:ea typeface="微软雅黑" pitchFamily="34" charset="-122"/>
            </a:endParaRPr>
          </a:p>
          <a:p>
            <a:pPr algn="just">
              <a:lnSpc>
                <a:spcPct val="150000"/>
              </a:lnSpc>
            </a:pPr>
            <a:r>
              <a:rPr lang="zh-CN" altLang="en-US" sz="1600" dirty="0">
                <a:solidFill>
                  <a:srgbClr val="E1CF9A">
                    <a:alpha val="99000"/>
                  </a:srgbClr>
                </a:solidFill>
                <a:latin typeface="微软雅黑" pitchFamily="34" charset="-122"/>
                <a:ea typeface="微软雅黑" pitchFamily="34" charset="-122"/>
              </a:rPr>
              <a:t>                           以及美化界面</a:t>
            </a:r>
          </a:p>
        </p:txBody>
      </p:sp>
    </p:spTree>
    <p:extLst>
      <p:ext uri="{BB962C8B-B14F-4D97-AF65-F5344CB8AC3E}">
        <p14:creationId xmlns:p14="http://schemas.microsoft.com/office/powerpoint/2010/main" val="177240713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1+#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25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500"/>
                                        <p:tgtEl>
                                          <p:spTgt spid="72"/>
                                        </p:tgtEl>
                                      </p:cBhvr>
                                    </p:animEffect>
                                  </p:childTnLst>
                                </p:cTn>
                              </p:par>
                              <p:par>
                                <p:cTn id="18" presetID="10" presetClass="entr" presetSubtype="0" fill="hold" nodeType="withEffect">
                                  <p:stCondLst>
                                    <p:cond delay="25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500"/>
                                        <p:tgtEl>
                                          <p:spTgt spid="80"/>
                                        </p:tgtEl>
                                      </p:cBhvr>
                                    </p:animEffect>
                                  </p:childTnLst>
                                </p:cTn>
                              </p:par>
                            </p:childTnLst>
                          </p:cTn>
                        </p:par>
                        <p:par>
                          <p:cTn id="24" fill="hold">
                            <p:stCondLst>
                              <p:cond delay="1500"/>
                            </p:stCondLst>
                            <p:childTnLst>
                              <p:par>
                                <p:cTn id="25" presetID="17" presetClass="entr" presetSubtype="1" fill="hold" grpId="0" nodeType="afterEffect" nodePh="1">
                                  <p:stCondLst>
                                    <p:cond delay="0"/>
                                  </p:stCondLst>
                                  <p:endCondLst>
                                    <p:cond evt="begin" delay="0">
                                      <p:tn val="25"/>
                                    </p:cond>
                                  </p:endCondLst>
                                  <p:iterate type="lt">
                                    <p:tmPct val="40000"/>
                                  </p:iterate>
                                  <p:childTnLst>
                                    <p:set>
                                      <p:cBhvr>
                                        <p:cTn id="26" dur="1" fill="hold">
                                          <p:stCondLst>
                                            <p:cond delay="0"/>
                                          </p:stCondLst>
                                        </p:cTn>
                                        <p:tgtEl>
                                          <p:spTgt spid="107"/>
                                        </p:tgtEl>
                                        <p:attrNameLst>
                                          <p:attrName>style.visibility</p:attrName>
                                        </p:attrNameLst>
                                      </p:cBhvr>
                                      <p:to>
                                        <p:strVal val="visible"/>
                                      </p:to>
                                    </p:set>
                                    <p:anim calcmode="lin" valueType="num">
                                      <p:cBhvr>
                                        <p:cTn id="27" dur="250" fill="hold"/>
                                        <p:tgtEl>
                                          <p:spTgt spid="107"/>
                                        </p:tgtEl>
                                        <p:attrNameLst>
                                          <p:attrName>ppt_x</p:attrName>
                                        </p:attrNameLst>
                                      </p:cBhvr>
                                      <p:tavLst>
                                        <p:tav tm="0">
                                          <p:val>
                                            <p:strVal val="#ppt_x"/>
                                          </p:val>
                                        </p:tav>
                                        <p:tav tm="100000">
                                          <p:val>
                                            <p:strVal val="#ppt_x"/>
                                          </p:val>
                                        </p:tav>
                                      </p:tavLst>
                                    </p:anim>
                                    <p:anim calcmode="lin" valueType="num">
                                      <p:cBhvr>
                                        <p:cTn id="28" dur="250" fill="hold"/>
                                        <p:tgtEl>
                                          <p:spTgt spid="107"/>
                                        </p:tgtEl>
                                        <p:attrNameLst>
                                          <p:attrName>ppt_y</p:attrName>
                                        </p:attrNameLst>
                                      </p:cBhvr>
                                      <p:tavLst>
                                        <p:tav tm="0">
                                          <p:val>
                                            <p:strVal val="#ppt_y-#ppt_h/2"/>
                                          </p:val>
                                        </p:tav>
                                        <p:tav tm="100000">
                                          <p:val>
                                            <p:strVal val="#ppt_y"/>
                                          </p:val>
                                        </p:tav>
                                      </p:tavLst>
                                    </p:anim>
                                    <p:anim calcmode="lin" valueType="num">
                                      <p:cBhvr>
                                        <p:cTn id="29" dur="250" fill="hold"/>
                                        <p:tgtEl>
                                          <p:spTgt spid="107"/>
                                        </p:tgtEl>
                                        <p:attrNameLst>
                                          <p:attrName>ppt_w</p:attrName>
                                        </p:attrNameLst>
                                      </p:cBhvr>
                                      <p:tavLst>
                                        <p:tav tm="0">
                                          <p:val>
                                            <p:strVal val="#ppt_w"/>
                                          </p:val>
                                        </p:tav>
                                        <p:tav tm="100000">
                                          <p:val>
                                            <p:strVal val="#ppt_w"/>
                                          </p:val>
                                        </p:tav>
                                      </p:tavLst>
                                    </p:anim>
                                    <p:anim calcmode="lin" valueType="num">
                                      <p:cBhvr>
                                        <p:cTn id="30" dur="250" fill="hold"/>
                                        <p:tgtEl>
                                          <p:spTgt spid="10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107" grpId="0"/>
      <p:bldP spid="54"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TotalTime>
  <Words>257</Words>
  <Application>Microsoft Office PowerPoint</Application>
  <PresentationFormat>全屏显示(16:9)</PresentationFormat>
  <Paragraphs>24</Paragraphs>
  <Slides>7</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时尚中黑简体</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kun zhang</cp:lastModifiedBy>
  <cp:revision>11</cp:revision>
  <dcterms:created xsi:type="dcterms:W3CDTF">2016-12-20T13:33:04Z</dcterms:created>
  <dcterms:modified xsi:type="dcterms:W3CDTF">2019-09-26T00:49:05Z</dcterms:modified>
</cp:coreProperties>
</file>